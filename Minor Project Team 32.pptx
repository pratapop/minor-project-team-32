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78" r:id="rId8"/>
    <p:sldId id="279" r:id="rId9"/>
    <p:sldId id="280" r:id="rId10"/>
    <p:sldId id="262" r:id="rId11"/>
    <p:sldId id="277" r:id="rId12"/>
    <p:sldId id="265" r:id="rId13"/>
    <p:sldId id="263" r:id="rId14"/>
    <p:sldId id="283" r:id="rId15"/>
    <p:sldId id="284" r:id="rId16"/>
    <p:sldId id="268" r:id="rId17"/>
    <p:sldId id="266" r:id="rId18"/>
    <p:sldId id="285" r:id="rId19"/>
    <p:sldId id="269" r:id="rId20"/>
    <p:sldId id="271" r:id="rId21"/>
    <p:sldId id="272" r:id="rId22"/>
    <p:sldId id="273" r:id="rId23"/>
    <p:sldId id="282" r:id="rId24"/>
    <p:sldId id="276" r:id="rId2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p:cViewPr varScale="1">
        <p:scale>
          <a:sx n="78" d="100"/>
          <a:sy n="78" d="100"/>
        </p:scale>
        <p:origin x="1622"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EF93167-4B3A-43E3-B07C-EB3A544E00B8}" type="datetimeFigureOut">
              <a:rPr lang="en-IN" smtClean="0"/>
              <a:t>16-03-2026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A0775248-E682-43EC-93C3-22A1A04950D0}" type="slidenum">
              <a:rPr lang="en-IN" smtClean="0"/>
              <a:t>‹#›</a:t>
            </a:fld>
            <a:endParaRPr lang="en-IN"/>
          </a:p>
        </p:txBody>
      </p:sp>
    </p:spTree>
    <p:extLst>
      <p:ext uri="{BB962C8B-B14F-4D97-AF65-F5344CB8AC3E}">
        <p14:creationId xmlns:p14="http://schemas.microsoft.com/office/powerpoint/2010/main" val="182265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 AI “ mentioned here is a Local LLM, which we are using to convert SHAP explanations to humanized explanations.</a:t>
            </a:r>
            <a:endParaRPr lang="en-IN" dirty="0"/>
          </a:p>
        </p:txBody>
      </p:sp>
      <p:sp>
        <p:nvSpPr>
          <p:cNvPr id="4" name="Slide Number Placeholder 3"/>
          <p:cNvSpPr>
            <a:spLocks noGrp="1"/>
          </p:cNvSpPr>
          <p:nvPr>
            <p:ph type="sldNum" sz="quarter" idx="5"/>
          </p:nvPr>
        </p:nvSpPr>
        <p:spPr/>
        <p:txBody>
          <a:bodyPr/>
          <a:lstStyle/>
          <a:p>
            <a:fld id="{A0775248-E682-43EC-93C3-22A1A04950D0}" type="slidenum">
              <a:rPr lang="en-IN" smtClean="0"/>
              <a:t>3</a:t>
            </a:fld>
            <a:endParaRPr lang="en-IN"/>
          </a:p>
        </p:txBody>
      </p:sp>
    </p:spTree>
    <p:extLst>
      <p:ext uri="{BB962C8B-B14F-4D97-AF65-F5344CB8AC3E}">
        <p14:creationId xmlns:p14="http://schemas.microsoft.com/office/powerpoint/2010/main" val="1359997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1800"/>
              </a:lnSpc>
              <a:buNone/>
            </a:pPr>
            <a:r>
              <a:rPr lang="en-US" dirty="0"/>
              <a:t>Holistic: </a:t>
            </a:r>
            <a:r>
              <a:rPr lang="en-US" b="0" i="0" dirty="0">
                <a:solidFill>
                  <a:srgbClr val="E8E8E8"/>
                </a:solidFill>
                <a:effectLst/>
                <a:latin typeface="Arial" panose="020B0604020202020204" pitchFamily="34" charset="0"/>
              </a:rPr>
              <a:t>considered as a whole thing rather than a collection of parts</a:t>
            </a:r>
            <a:r>
              <a:rPr lang="en-IN" b="0" i="0" dirty="0">
                <a:solidFill>
                  <a:srgbClr val="E8E8E8"/>
                </a:solidFill>
                <a:effectLst/>
                <a:latin typeface="Arial" panose="020B0604020202020204" pitchFamily="34" charset="0"/>
              </a:rPr>
              <a:t>.</a:t>
            </a:r>
            <a:endParaRPr lang="en-US" b="0" i="0" dirty="0">
              <a:solidFill>
                <a:srgbClr val="E8E8E8"/>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0775248-E682-43EC-93C3-22A1A04950D0}" type="slidenum">
              <a:rPr lang="en-IN" smtClean="0"/>
              <a:t>4</a:t>
            </a:fld>
            <a:endParaRPr lang="en-IN"/>
          </a:p>
        </p:txBody>
      </p:sp>
    </p:spTree>
    <p:extLst>
      <p:ext uri="{BB962C8B-B14F-4D97-AF65-F5344CB8AC3E}">
        <p14:creationId xmlns:p14="http://schemas.microsoft.com/office/powerpoint/2010/main" val="2276765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775248-E682-43EC-93C3-22A1A04950D0}" type="slidenum">
              <a:rPr lang="en-IN" smtClean="0"/>
              <a:t>12</a:t>
            </a:fld>
            <a:endParaRPr lang="en-IN"/>
          </a:p>
        </p:txBody>
      </p:sp>
    </p:spTree>
    <p:extLst>
      <p:ext uri="{BB962C8B-B14F-4D97-AF65-F5344CB8AC3E}">
        <p14:creationId xmlns:p14="http://schemas.microsoft.com/office/powerpoint/2010/main" val="3789726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001F5F"/>
                </a:solidFill>
                <a:latin typeface="Ebrima"/>
                <a:cs typeface="Ebrima"/>
              </a:defRPr>
            </a:lvl1p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2025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3/16/2026</a:t>
            </a:fld>
            <a:endParaRPr lang="en-US"/>
          </a:p>
        </p:txBody>
      </p:sp>
      <p:sp>
        <p:nvSpPr>
          <p:cNvPr id="6" name="Holder 6"/>
          <p:cNvSpPr>
            <a:spLocks noGrp="1"/>
          </p:cNvSpPr>
          <p:nvPr>
            <p:ph type="sldNum" sz="quarter" idx="7"/>
          </p:nvPr>
        </p:nvSpPr>
        <p:spPr/>
        <p:txBody>
          <a:bodyPr lIns="0" tIns="0" rIns="0" bIns="0"/>
          <a:lstStyle>
            <a:lvl1pPr>
              <a:defRPr sz="900" b="0" i="0">
                <a:solidFill>
                  <a:srgbClr val="005392"/>
                </a:solidFill>
                <a:latin typeface="Ebrima"/>
                <a:cs typeface="Ebrima"/>
              </a:defRPr>
            </a:lvl1pPr>
          </a:lstStyle>
          <a:p>
            <a:pPr marL="38100">
              <a:lnSpc>
                <a:spcPct val="100000"/>
              </a:lnSpc>
              <a:spcBef>
                <a:spcPts val="170"/>
              </a:spcBef>
            </a:pPr>
            <a:fld id="{81D60167-4931-47E6-BA6A-407CBD079E47}" type="slidenum">
              <a:rPr dirty="0"/>
              <a:t>‹#›</a:t>
            </a:fld>
            <a:r>
              <a:rPr dirty="0"/>
              <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001F5F"/>
                </a:solidFill>
                <a:latin typeface="Ebrima"/>
                <a:cs typeface="Ebrima"/>
              </a:defRPr>
            </a:lvl1p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2025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3/16/2026</a:t>
            </a:fld>
            <a:endParaRPr lang="en-US"/>
          </a:p>
        </p:txBody>
      </p:sp>
      <p:sp>
        <p:nvSpPr>
          <p:cNvPr id="6" name="Holder 6"/>
          <p:cNvSpPr>
            <a:spLocks noGrp="1"/>
          </p:cNvSpPr>
          <p:nvPr>
            <p:ph type="sldNum" sz="quarter" idx="7"/>
          </p:nvPr>
        </p:nvSpPr>
        <p:spPr/>
        <p:txBody>
          <a:bodyPr lIns="0" tIns="0" rIns="0" bIns="0"/>
          <a:lstStyle>
            <a:lvl1pPr>
              <a:defRPr sz="900" b="0" i="0">
                <a:solidFill>
                  <a:srgbClr val="005392"/>
                </a:solidFill>
                <a:latin typeface="Ebrima"/>
                <a:cs typeface="Ebrima"/>
              </a:defRPr>
            </a:lvl1pPr>
          </a:lstStyle>
          <a:p>
            <a:pPr marL="38100">
              <a:lnSpc>
                <a:spcPct val="100000"/>
              </a:lnSpc>
              <a:spcBef>
                <a:spcPts val="170"/>
              </a:spcBef>
            </a:pPr>
            <a:fld id="{81D60167-4931-47E6-BA6A-407CBD079E47}" type="slidenum">
              <a:rPr dirty="0"/>
              <a:t>‹#›</a:t>
            </a:fld>
            <a:r>
              <a:rPr dirty="0"/>
              <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001F5F"/>
                </a:solidFill>
                <a:latin typeface="Ebrima"/>
                <a:cs typeface="Ebrima"/>
              </a:defRPr>
            </a:lvl1p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2025</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3/16/2026</a:t>
            </a:fld>
            <a:endParaRPr lang="en-US"/>
          </a:p>
        </p:txBody>
      </p:sp>
      <p:sp>
        <p:nvSpPr>
          <p:cNvPr id="7" name="Holder 7"/>
          <p:cNvSpPr>
            <a:spLocks noGrp="1"/>
          </p:cNvSpPr>
          <p:nvPr>
            <p:ph type="sldNum" sz="quarter" idx="7"/>
          </p:nvPr>
        </p:nvSpPr>
        <p:spPr/>
        <p:txBody>
          <a:bodyPr lIns="0" tIns="0" rIns="0" bIns="0"/>
          <a:lstStyle>
            <a:lvl1pPr>
              <a:defRPr sz="900" b="0" i="0">
                <a:solidFill>
                  <a:srgbClr val="005392"/>
                </a:solidFill>
                <a:latin typeface="Ebrima"/>
                <a:cs typeface="Ebrima"/>
              </a:defRPr>
            </a:lvl1pPr>
          </a:lstStyle>
          <a:p>
            <a:pPr marL="38100">
              <a:lnSpc>
                <a:spcPct val="100000"/>
              </a:lnSpc>
              <a:spcBef>
                <a:spcPts val="170"/>
              </a:spcBef>
            </a:pPr>
            <a:fld id="{81D60167-4931-47E6-BA6A-407CBD079E47}" type="slidenum">
              <a:rPr dirty="0"/>
              <a:t>‹#›</a:t>
            </a:fld>
            <a:r>
              <a:rPr dirty="0"/>
              <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421337" y="42901"/>
            <a:ext cx="686528" cy="679004"/>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579119" y="6658235"/>
            <a:ext cx="7934959" cy="0"/>
          </a:xfrm>
          <a:custGeom>
            <a:avLst/>
            <a:gdLst/>
            <a:ahLst/>
            <a:cxnLst/>
            <a:rect l="l" t="t" r="r" b="b"/>
            <a:pathLst>
              <a:path w="7934959">
                <a:moveTo>
                  <a:pt x="0" y="0"/>
                </a:moveTo>
                <a:lnTo>
                  <a:pt x="7934959" y="0"/>
                </a:lnTo>
              </a:path>
            </a:pathLst>
          </a:custGeom>
          <a:ln w="9525">
            <a:solidFill>
              <a:srgbClr val="005392"/>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0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001F5F"/>
                </a:solidFill>
                <a:latin typeface="Ebrima"/>
                <a:cs typeface="Ebrima"/>
              </a:defRPr>
            </a:lvl1p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2025</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3/16/2026</a:t>
            </a:fld>
            <a:endParaRPr lang="en-US"/>
          </a:p>
        </p:txBody>
      </p:sp>
      <p:sp>
        <p:nvSpPr>
          <p:cNvPr id="5" name="Holder 5"/>
          <p:cNvSpPr>
            <a:spLocks noGrp="1"/>
          </p:cNvSpPr>
          <p:nvPr>
            <p:ph type="sldNum" sz="quarter" idx="7"/>
          </p:nvPr>
        </p:nvSpPr>
        <p:spPr/>
        <p:txBody>
          <a:bodyPr lIns="0" tIns="0" rIns="0" bIns="0"/>
          <a:lstStyle>
            <a:lvl1pPr>
              <a:defRPr sz="900" b="0" i="0">
                <a:solidFill>
                  <a:srgbClr val="005392"/>
                </a:solidFill>
                <a:latin typeface="Ebrima"/>
                <a:cs typeface="Ebrima"/>
              </a:defRPr>
            </a:lvl1pPr>
          </a:lstStyle>
          <a:p>
            <a:pPr marL="38100">
              <a:lnSpc>
                <a:spcPct val="100000"/>
              </a:lnSpc>
              <a:spcBef>
                <a:spcPts val="170"/>
              </a:spcBef>
            </a:pPr>
            <a:fld id="{81D60167-4931-47E6-BA6A-407CBD079E47}" type="slidenum">
              <a:rPr dirty="0"/>
              <a:t>‹#›</a:t>
            </a:fld>
            <a:r>
              <a:rPr dirty="0"/>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rgbClr val="001F5F"/>
                </a:solidFill>
                <a:latin typeface="Ebrima"/>
                <a:cs typeface="Ebrima"/>
              </a:defRPr>
            </a:lvl1p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2025</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3/16/2026</a:t>
            </a:fld>
            <a:endParaRPr lang="en-US"/>
          </a:p>
        </p:txBody>
      </p:sp>
      <p:sp>
        <p:nvSpPr>
          <p:cNvPr id="4" name="Holder 4"/>
          <p:cNvSpPr>
            <a:spLocks noGrp="1"/>
          </p:cNvSpPr>
          <p:nvPr>
            <p:ph type="sldNum" sz="quarter" idx="7"/>
          </p:nvPr>
        </p:nvSpPr>
        <p:spPr/>
        <p:txBody>
          <a:bodyPr lIns="0" tIns="0" rIns="0" bIns="0"/>
          <a:lstStyle>
            <a:lvl1pPr>
              <a:defRPr sz="900" b="0" i="0">
                <a:solidFill>
                  <a:srgbClr val="005392"/>
                </a:solidFill>
                <a:latin typeface="Ebrima"/>
                <a:cs typeface="Ebrima"/>
              </a:defRPr>
            </a:lvl1pPr>
          </a:lstStyle>
          <a:p>
            <a:pPr marL="38100">
              <a:lnSpc>
                <a:spcPct val="100000"/>
              </a:lnSpc>
              <a:spcBef>
                <a:spcPts val="170"/>
              </a:spcBef>
            </a:pPr>
            <a:fld id="{81D60167-4931-47E6-BA6A-407CBD079E47}" type="slidenum">
              <a:rPr dirty="0"/>
              <a:t>‹#›</a:t>
            </a:fld>
            <a:r>
              <a:rPr dirty="0"/>
              <a:t>.</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421337" y="42901"/>
            <a:ext cx="686528" cy="679004"/>
          </a:xfrm>
          <a:prstGeom prst="rect">
            <a:avLst/>
          </a:prstGeom>
          <a:blipFill>
            <a:blip r:embed="rId7" cstate="print"/>
            <a:stretch>
              <a:fillRect/>
            </a:stretch>
          </a:blipFill>
        </p:spPr>
        <p:txBody>
          <a:bodyPr wrap="square" lIns="0" tIns="0" rIns="0" bIns="0" rtlCol="0"/>
          <a:lstStyle/>
          <a:p>
            <a:endParaRPr/>
          </a:p>
        </p:txBody>
      </p:sp>
      <p:sp>
        <p:nvSpPr>
          <p:cNvPr id="17" name="bk object 17"/>
          <p:cNvSpPr/>
          <p:nvPr/>
        </p:nvSpPr>
        <p:spPr>
          <a:xfrm>
            <a:off x="579119" y="6658235"/>
            <a:ext cx="7934959" cy="0"/>
          </a:xfrm>
          <a:custGeom>
            <a:avLst/>
            <a:gdLst/>
            <a:ahLst/>
            <a:cxnLst/>
            <a:rect l="l" t="t" r="r" b="b"/>
            <a:pathLst>
              <a:path w="7934959">
                <a:moveTo>
                  <a:pt x="0" y="0"/>
                </a:moveTo>
                <a:lnTo>
                  <a:pt x="7934959" y="0"/>
                </a:lnTo>
              </a:path>
            </a:pathLst>
          </a:custGeom>
          <a:ln w="9525">
            <a:solidFill>
              <a:srgbClr val="005392"/>
            </a:solidFill>
          </a:ln>
        </p:spPr>
        <p:txBody>
          <a:bodyPr wrap="square" lIns="0" tIns="0" rIns="0" bIns="0" rtlCol="0"/>
          <a:lstStyle/>
          <a:p>
            <a:endParaRPr/>
          </a:p>
        </p:txBody>
      </p:sp>
      <p:sp>
        <p:nvSpPr>
          <p:cNvPr id="18" name="bk object 18"/>
          <p:cNvSpPr/>
          <p:nvPr/>
        </p:nvSpPr>
        <p:spPr>
          <a:xfrm>
            <a:off x="40640" y="30480"/>
            <a:ext cx="8329295" cy="694690"/>
          </a:xfrm>
          <a:custGeom>
            <a:avLst/>
            <a:gdLst/>
            <a:ahLst/>
            <a:cxnLst/>
            <a:rect l="l" t="t" r="r" b="b"/>
            <a:pathLst>
              <a:path w="8329295" h="694690">
                <a:moveTo>
                  <a:pt x="0" y="0"/>
                </a:moveTo>
                <a:lnTo>
                  <a:pt x="8328748" y="0"/>
                </a:lnTo>
                <a:lnTo>
                  <a:pt x="8328748" y="694067"/>
                </a:lnTo>
                <a:lnTo>
                  <a:pt x="0" y="694067"/>
                </a:lnTo>
                <a:lnTo>
                  <a:pt x="0" y="0"/>
                </a:lnTo>
                <a:close/>
              </a:path>
            </a:pathLst>
          </a:custGeom>
          <a:solidFill>
            <a:srgbClr val="0037A3"/>
          </a:solidFill>
        </p:spPr>
        <p:txBody>
          <a:bodyPr wrap="square" lIns="0" tIns="0" rIns="0" bIns="0" rtlCol="0"/>
          <a:lstStyle/>
          <a:p>
            <a:endParaRPr/>
          </a:p>
        </p:txBody>
      </p:sp>
      <p:sp>
        <p:nvSpPr>
          <p:cNvPr id="19" name="bk object 19"/>
          <p:cNvSpPr/>
          <p:nvPr/>
        </p:nvSpPr>
        <p:spPr>
          <a:xfrm>
            <a:off x="40640" y="30480"/>
            <a:ext cx="8329295" cy="694690"/>
          </a:xfrm>
          <a:custGeom>
            <a:avLst/>
            <a:gdLst/>
            <a:ahLst/>
            <a:cxnLst/>
            <a:rect l="l" t="t" r="r" b="b"/>
            <a:pathLst>
              <a:path w="8329295" h="694690">
                <a:moveTo>
                  <a:pt x="0" y="0"/>
                </a:moveTo>
                <a:lnTo>
                  <a:pt x="8328748" y="0"/>
                </a:lnTo>
                <a:lnTo>
                  <a:pt x="8328748" y="694067"/>
                </a:lnTo>
                <a:lnTo>
                  <a:pt x="0" y="694067"/>
                </a:lnTo>
                <a:lnTo>
                  <a:pt x="0" y="0"/>
                </a:lnTo>
                <a:close/>
              </a:path>
            </a:pathLst>
          </a:custGeom>
          <a:ln w="31749">
            <a:solidFill>
              <a:srgbClr val="FFFFFF"/>
            </a:solidFill>
          </a:ln>
        </p:spPr>
        <p:txBody>
          <a:bodyPr wrap="square" lIns="0" tIns="0" rIns="0" bIns="0" rtlCol="0"/>
          <a:lstStyle/>
          <a:p>
            <a:endParaRPr/>
          </a:p>
        </p:txBody>
      </p:sp>
      <p:sp>
        <p:nvSpPr>
          <p:cNvPr id="2" name="Holder 2"/>
          <p:cNvSpPr>
            <a:spLocks noGrp="1"/>
          </p:cNvSpPr>
          <p:nvPr>
            <p:ph type="title"/>
          </p:nvPr>
        </p:nvSpPr>
        <p:spPr>
          <a:xfrm>
            <a:off x="4058636" y="3325943"/>
            <a:ext cx="1026726" cy="330835"/>
          </a:xfrm>
          <a:prstGeom prst="rect">
            <a:avLst/>
          </a:prstGeom>
        </p:spPr>
        <p:txBody>
          <a:bodyPr wrap="square" lIns="0" tIns="0" rIns="0" bIns="0">
            <a:spAutoFit/>
          </a:bodyPr>
          <a:lstStyle>
            <a:lvl1pPr>
              <a:defRPr sz="2000" b="1" i="0">
                <a:solidFill>
                  <a:schemeClr val="tx1"/>
                </a:solidFill>
                <a:latin typeface="Arial"/>
                <a:cs typeface="Arial"/>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253132" y="6668612"/>
            <a:ext cx="4077970" cy="177800"/>
          </a:xfrm>
          <a:prstGeom prst="rect">
            <a:avLst/>
          </a:prstGeom>
        </p:spPr>
        <p:txBody>
          <a:bodyPr wrap="square" lIns="0" tIns="0" rIns="0" bIns="0">
            <a:spAutoFit/>
          </a:bodyPr>
          <a:lstStyle>
            <a:lvl1pPr>
              <a:defRPr sz="900" b="0" i="0">
                <a:solidFill>
                  <a:srgbClr val="001F5F"/>
                </a:solidFill>
                <a:latin typeface="Ebrima"/>
                <a:cs typeface="Ebrima"/>
              </a:defRPr>
            </a:lvl1p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2025</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3/16/2026</a:t>
            </a:fld>
            <a:endParaRPr lang="en-US"/>
          </a:p>
        </p:txBody>
      </p:sp>
      <p:sp>
        <p:nvSpPr>
          <p:cNvPr id="6" name="Holder 6"/>
          <p:cNvSpPr>
            <a:spLocks noGrp="1"/>
          </p:cNvSpPr>
          <p:nvPr>
            <p:ph type="sldNum" sz="quarter" idx="7"/>
          </p:nvPr>
        </p:nvSpPr>
        <p:spPr>
          <a:xfrm>
            <a:off x="8870186" y="6665320"/>
            <a:ext cx="198120" cy="177800"/>
          </a:xfrm>
          <a:prstGeom prst="rect">
            <a:avLst/>
          </a:prstGeom>
        </p:spPr>
        <p:txBody>
          <a:bodyPr wrap="square" lIns="0" tIns="0" rIns="0" bIns="0">
            <a:spAutoFit/>
          </a:bodyPr>
          <a:lstStyle>
            <a:lvl1pPr>
              <a:defRPr sz="900" b="0" i="0">
                <a:solidFill>
                  <a:srgbClr val="005392"/>
                </a:solidFill>
                <a:latin typeface="Ebrima"/>
                <a:cs typeface="Ebrima"/>
              </a:defRPr>
            </a:lvl1pPr>
          </a:lstStyle>
          <a:p>
            <a:pPr marL="38100">
              <a:lnSpc>
                <a:spcPct val="100000"/>
              </a:lnSpc>
              <a:spcBef>
                <a:spcPts val="170"/>
              </a:spcBef>
            </a:pPr>
            <a:fld id="{81D60167-4931-47E6-BA6A-407CBD079E47}" type="slidenum">
              <a:rPr dirty="0"/>
              <a:t>‹#›</a:t>
            </a:fld>
            <a:r>
              <a:rPr dirty="0"/>
              <a:t>.</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kaggle.com/datasets/mdsultanulislamovi/student-stress-monitoring-datasets?resource=download"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3549949"/>
            <a:ext cx="9144000" cy="760095"/>
          </a:xfrm>
          <a:custGeom>
            <a:avLst/>
            <a:gdLst/>
            <a:ahLst/>
            <a:cxnLst/>
            <a:rect l="l" t="t" r="r" b="b"/>
            <a:pathLst>
              <a:path w="9144000" h="760095">
                <a:moveTo>
                  <a:pt x="0" y="759866"/>
                </a:moveTo>
                <a:lnTo>
                  <a:pt x="9144000" y="759866"/>
                </a:lnTo>
                <a:lnTo>
                  <a:pt x="9144000" y="0"/>
                </a:lnTo>
                <a:lnTo>
                  <a:pt x="0" y="0"/>
                </a:lnTo>
                <a:lnTo>
                  <a:pt x="0" y="759866"/>
                </a:lnTo>
                <a:close/>
              </a:path>
            </a:pathLst>
          </a:custGeom>
          <a:solidFill>
            <a:srgbClr val="0037A3"/>
          </a:solidFill>
        </p:spPr>
        <p:txBody>
          <a:bodyPr wrap="square" lIns="0" tIns="0" rIns="0" bIns="0" rtlCol="0"/>
          <a:lstStyle/>
          <a:p>
            <a:endParaRPr/>
          </a:p>
        </p:txBody>
      </p:sp>
      <p:sp>
        <p:nvSpPr>
          <p:cNvPr id="3" name="object 3"/>
          <p:cNvSpPr txBox="1"/>
          <p:nvPr/>
        </p:nvSpPr>
        <p:spPr>
          <a:xfrm>
            <a:off x="78441" y="3727099"/>
            <a:ext cx="8987117" cy="381515"/>
          </a:xfrm>
          <a:prstGeom prst="rect">
            <a:avLst/>
          </a:prstGeom>
        </p:spPr>
        <p:txBody>
          <a:bodyPr vert="horz" wrap="square" lIns="0" tIns="12065" rIns="0" bIns="0" rtlCol="0">
            <a:spAutoFit/>
          </a:bodyPr>
          <a:lstStyle/>
          <a:p>
            <a:pPr algn="ctr"/>
            <a:r>
              <a:rPr lang="en-US" sz="2400" b="1" dirty="0">
                <a:solidFill>
                  <a:schemeClr val="bg1"/>
                </a:solidFill>
              </a:rPr>
              <a:t>Stress Management System using Facial Recognition</a:t>
            </a:r>
          </a:p>
        </p:txBody>
      </p:sp>
      <p:sp>
        <p:nvSpPr>
          <p:cNvPr id="4" name="object 4"/>
          <p:cNvSpPr txBox="1">
            <a:spLocks noGrp="1"/>
          </p:cNvSpPr>
          <p:nvPr>
            <p:ph type="title"/>
          </p:nvPr>
        </p:nvSpPr>
        <p:spPr>
          <a:xfrm>
            <a:off x="1243779" y="600216"/>
            <a:ext cx="6860540" cy="940435"/>
          </a:xfrm>
          <a:prstGeom prst="rect">
            <a:avLst/>
          </a:prstGeom>
        </p:spPr>
        <p:txBody>
          <a:bodyPr vert="horz" wrap="square" lIns="0" tIns="12700" rIns="0" bIns="0" rtlCol="0">
            <a:spAutoFit/>
          </a:bodyPr>
          <a:lstStyle/>
          <a:p>
            <a:pPr marL="12700" marR="5080" indent="671830">
              <a:lnSpc>
                <a:spcPct val="107200"/>
              </a:lnSpc>
              <a:spcBef>
                <a:spcPts val="100"/>
              </a:spcBef>
            </a:pPr>
            <a:r>
              <a:rPr sz="2800" spc="-10" dirty="0">
                <a:solidFill>
                  <a:srgbClr val="000099"/>
                </a:solidFill>
                <a:latin typeface="Ebrima"/>
                <a:cs typeface="Ebrima"/>
              </a:rPr>
              <a:t>Jaypee </a:t>
            </a:r>
            <a:r>
              <a:rPr sz="2800" spc="-5" dirty="0">
                <a:solidFill>
                  <a:srgbClr val="000099"/>
                </a:solidFill>
                <a:latin typeface="Ebrima"/>
                <a:cs typeface="Ebrima"/>
              </a:rPr>
              <a:t>University </a:t>
            </a:r>
            <a:r>
              <a:rPr sz="2800" spc="-10" dirty="0">
                <a:solidFill>
                  <a:srgbClr val="000099"/>
                </a:solidFill>
                <a:latin typeface="Ebrima"/>
                <a:cs typeface="Ebrima"/>
              </a:rPr>
              <a:t>of Information  </a:t>
            </a:r>
            <a:r>
              <a:rPr sz="2800" spc="-5" dirty="0">
                <a:solidFill>
                  <a:srgbClr val="000099"/>
                </a:solidFill>
                <a:latin typeface="Ebrima"/>
                <a:cs typeface="Ebrima"/>
              </a:rPr>
              <a:t>Technology, </a:t>
            </a:r>
            <a:r>
              <a:rPr sz="2800" spc="-10" dirty="0">
                <a:solidFill>
                  <a:srgbClr val="000099"/>
                </a:solidFill>
                <a:latin typeface="Ebrima"/>
                <a:cs typeface="Ebrima"/>
              </a:rPr>
              <a:t>Waknaghat </a:t>
            </a:r>
            <a:r>
              <a:rPr sz="2800" spc="-5" dirty="0">
                <a:solidFill>
                  <a:srgbClr val="000099"/>
                </a:solidFill>
                <a:latin typeface="Ebrima"/>
                <a:cs typeface="Ebrima"/>
              </a:rPr>
              <a:t>- </a:t>
            </a:r>
            <a:r>
              <a:rPr sz="2800" spc="-10" dirty="0">
                <a:solidFill>
                  <a:srgbClr val="000099"/>
                </a:solidFill>
                <a:latin typeface="Ebrima"/>
                <a:cs typeface="Ebrima"/>
              </a:rPr>
              <a:t>173234</a:t>
            </a:r>
            <a:r>
              <a:rPr sz="2800" spc="125" dirty="0">
                <a:solidFill>
                  <a:srgbClr val="000099"/>
                </a:solidFill>
                <a:latin typeface="Ebrima"/>
                <a:cs typeface="Ebrima"/>
              </a:rPr>
              <a:t> </a:t>
            </a:r>
            <a:r>
              <a:rPr sz="2800" spc="-5" dirty="0">
                <a:solidFill>
                  <a:srgbClr val="000099"/>
                </a:solidFill>
                <a:latin typeface="Ebrima"/>
                <a:cs typeface="Ebrima"/>
              </a:rPr>
              <a:t>(India)</a:t>
            </a:r>
            <a:endParaRPr sz="2800">
              <a:latin typeface="Ebrima"/>
              <a:cs typeface="Ebrima"/>
            </a:endParaRPr>
          </a:p>
        </p:txBody>
      </p:sp>
      <p:sp>
        <p:nvSpPr>
          <p:cNvPr id="5" name="object 5"/>
          <p:cNvSpPr txBox="1"/>
          <p:nvPr/>
        </p:nvSpPr>
        <p:spPr>
          <a:xfrm>
            <a:off x="1710025" y="1980935"/>
            <a:ext cx="5930900" cy="972061"/>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Ebrima"/>
                <a:cs typeface="Ebrima"/>
              </a:rPr>
              <a:t>Minor Project (18B19CI691) </a:t>
            </a:r>
            <a:r>
              <a:rPr sz="2400" b="1" dirty="0">
                <a:latin typeface="Ebrima"/>
                <a:cs typeface="Ebrima"/>
              </a:rPr>
              <a:t>| AY</a:t>
            </a:r>
            <a:r>
              <a:rPr sz="2400" b="1" spc="-65" dirty="0">
                <a:latin typeface="Ebrima"/>
                <a:cs typeface="Ebrima"/>
              </a:rPr>
              <a:t> </a:t>
            </a:r>
            <a:r>
              <a:rPr sz="2400" b="1" spc="-5" dirty="0">
                <a:latin typeface="Ebrima"/>
                <a:cs typeface="Ebrima"/>
              </a:rPr>
              <a:t>202</a:t>
            </a:r>
            <a:r>
              <a:rPr lang="en-IN" sz="2400" b="1" spc="-5" dirty="0">
                <a:latin typeface="Ebrima"/>
                <a:cs typeface="Ebrima"/>
              </a:rPr>
              <a:t>5</a:t>
            </a:r>
            <a:r>
              <a:rPr sz="2400" b="1" spc="-5" dirty="0">
                <a:latin typeface="Ebrima"/>
                <a:cs typeface="Ebrima"/>
              </a:rPr>
              <a:t>-2</a:t>
            </a:r>
            <a:r>
              <a:rPr lang="en-IN" sz="2400" b="1" spc="-5" dirty="0">
                <a:latin typeface="Ebrima"/>
                <a:cs typeface="Ebrima"/>
              </a:rPr>
              <a:t>6</a:t>
            </a:r>
            <a:endParaRPr sz="2400" dirty="0">
              <a:latin typeface="Ebrima"/>
              <a:cs typeface="Ebrima"/>
            </a:endParaRPr>
          </a:p>
          <a:p>
            <a:pPr marL="117475">
              <a:lnSpc>
                <a:spcPct val="100000"/>
              </a:lnSpc>
              <a:spcBef>
                <a:spcPts val="2200"/>
              </a:spcBef>
            </a:pPr>
            <a:r>
              <a:rPr sz="2000" b="1" spc="-5" dirty="0">
                <a:latin typeface="Ebrima"/>
                <a:cs typeface="Ebrima"/>
              </a:rPr>
              <a:t>Mid-Term Evaluation </a:t>
            </a:r>
            <a:r>
              <a:rPr sz="2000" b="1" dirty="0">
                <a:latin typeface="Ebrima"/>
                <a:cs typeface="Ebrima"/>
              </a:rPr>
              <a:t>| </a:t>
            </a:r>
            <a:r>
              <a:rPr sz="2000" b="1" spc="-5" dirty="0">
                <a:latin typeface="Ebrima"/>
                <a:cs typeface="Ebrima"/>
              </a:rPr>
              <a:t>March </a:t>
            </a:r>
            <a:r>
              <a:rPr lang="en-IN" sz="2000" b="1" spc="-5" dirty="0">
                <a:latin typeface="Ebrima"/>
                <a:cs typeface="Ebrima"/>
              </a:rPr>
              <a:t>16-21</a:t>
            </a:r>
            <a:r>
              <a:rPr sz="2000" b="1" spc="-5" dirty="0">
                <a:latin typeface="Ebrima"/>
                <a:cs typeface="Ebrima"/>
              </a:rPr>
              <a:t>,</a:t>
            </a:r>
            <a:r>
              <a:rPr sz="2000" b="1" spc="-45" dirty="0">
                <a:latin typeface="Ebrima"/>
                <a:cs typeface="Ebrima"/>
              </a:rPr>
              <a:t> </a:t>
            </a:r>
            <a:r>
              <a:rPr sz="2000" b="1" spc="-5" dirty="0">
                <a:latin typeface="Ebrima"/>
                <a:cs typeface="Ebrima"/>
              </a:rPr>
              <a:t>202</a:t>
            </a:r>
            <a:r>
              <a:rPr lang="en-IN" sz="2000" b="1" spc="-5" dirty="0">
                <a:latin typeface="Ebrima"/>
                <a:cs typeface="Ebrima"/>
              </a:rPr>
              <a:t>6</a:t>
            </a:r>
            <a:r>
              <a:rPr sz="2000" b="1" spc="-5" dirty="0">
                <a:latin typeface="Ebrima"/>
                <a:cs typeface="Ebrima"/>
              </a:rPr>
              <a:t>.</a:t>
            </a:r>
            <a:endParaRPr sz="2000" dirty="0">
              <a:latin typeface="Ebrima"/>
              <a:cs typeface="Ebrima"/>
            </a:endParaRPr>
          </a:p>
        </p:txBody>
      </p:sp>
      <p:sp>
        <p:nvSpPr>
          <p:cNvPr id="6" name="object 6"/>
          <p:cNvSpPr txBox="1"/>
          <p:nvPr/>
        </p:nvSpPr>
        <p:spPr>
          <a:xfrm>
            <a:off x="596538" y="4415360"/>
            <a:ext cx="2680062" cy="289823"/>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Group</a:t>
            </a:r>
            <a:r>
              <a:rPr sz="1800" b="1" spc="-75" dirty="0">
                <a:latin typeface="Arial"/>
                <a:cs typeface="Arial"/>
              </a:rPr>
              <a:t> </a:t>
            </a:r>
            <a:r>
              <a:rPr sz="1800" b="1" spc="-5" dirty="0">
                <a:latin typeface="Arial"/>
                <a:cs typeface="Arial"/>
              </a:rPr>
              <a:t>No.:</a:t>
            </a:r>
            <a:r>
              <a:rPr lang="en-US" sz="1800" b="1" spc="-5" dirty="0">
                <a:latin typeface="Arial"/>
                <a:cs typeface="Arial"/>
              </a:rPr>
              <a:t> 32</a:t>
            </a:r>
            <a:endParaRPr sz="1800" dirty="0">
              <a:latin typeface="Arial"/>
              <a:cs typeface="Arial"/>
            </a:endParaRPr>
          </a:p>
        </p:txBody>
      </p:sp>
      <p:sp>
        <p:nvSpPr>
          <p:cNvPr id="7" name="object 7"/>
          <p:cNvSpPr txBox="1"/>
          <p:nvPr/>
        </p:nvSpPr>
        <p:spPr>
          <a:xfrm>
            <a:off x="596538" y="4945786"/>
            <a:ext cx="1679575" cy="258404"/>
          </a:xfrm>
          <a:prstGeom prst="rect">
            <a:avLst/>
          </a:prstGeom>
        </p:spPr>
        <p:txBody>
          <a:bodyPr vert="horz" wrap="square" lIns="0" tIns="12065" rIns="0" bIns="0" rtlCol="0">
            <a:spAutoFit/>
          </a:bodyPr>
          <a:lstStyle/>
          <a:p>
            <a:pPr marL="12700">
              <a:lnSpc>
                <a:spcPct val="100000"/>
              </a:lnSpc>
              <a:spcBef>
                <a:spcPts val="95"/>
              </a:spcBef>
            </a:pPr>
            <a:r>
              <a:rPr sz="1600" b="1" spc="-40" dirty="0">
                <a:latin typeface="Arial"/>
                <a:cs typeface="Arial"/>
              </a:rPr>
              <a:t>Team </a:t>
            </a:r>
            <a:r>
              <a:rPr sz="1600" b="1" spc="-10" dirty="0">
                <a:latin typeface="Arial"/>
                <a:cs typeface="Arial"/>
              </a:rPr>
              <a:t>Member</a:t>
            </a:r>
            <a:r>
              <a:rPr lang="en-US" sz="1600" b="1" spc="15" dirty="0">
                <a:latin typeface="Arial"/>
                <a:cs typeface="Arial"/>
              </a:rPr>
              <a:t>s</a:t>
            </a:r>
            <a:endParaRPr sz="1600" dirty="0">
              <a:latin typeface="Arial"/>
              <a:cs typeface="Arial"/>
            </a:endParaRPr>
          </a:p>
        </p:txBody>
      </p:sp>
      <p:sp>
        <p:nvSpPr>
          <p:cNvPr id="8" name="object 8"/>
          <p:cNvSpPr txBox="1"/>
          <p:nvPr/>
        </p:nvSpPr>
        <p:spPr>
          <a:xfrm>
            <a:off x="607781" y="5204190"/>
            <a:ext cx="3746862" cy="1170305"/>
          </a:xfrm>
          <a:prstGeom prst="rect">
            <a:avLst/>
          </a:prstGeom>
        </p:spPr>
        <p:txBody>
          <a:bodyPr vert="horz" wrap="square" lIns="0" tIns="70485" rIns="0" bIns="0" rtlCol="0">
            <a:spAutoFit/>
          </a:bodyPr>
          <a:lstStyle/>
          <a:p>
            <a:pPr marL="299085" indent="-287020">
              <a:lnSpc>
                <a:spcPct val="100000"/>
              </a:lnSpc>
              <a:spcBef>
                <a:spcPts val="555"/>
              </a:spcBef>
              <a:buFont typeface="Arial"/>
              <a:buChar char="•"/>
              <a:tabLst>
                <a:tab pos="299085" algn="l"/>
                <a:tab pos="299720" algn="l"/>
              </a:tabLst>
            </a:pPr>
            <a:r>
              <a:rPr lang="en-US" sz="1500" spc="-5" dirty="0">
                <a:latin typeface="Tahoma"/>
                <a:cs typeface="Tahoma"/>
              </a:rPr>
              <a:t>Abhiuday Pratap Singh</a:t>
            </a:r>
            <a:r>
              <a:rPr sz="1500" spc="-5" dirty="0">
                <a:latin typeface="Tahoma"/>
                <a:cs typeface="Tahoma"/>
              </a:rPr>
              <a:t> (</a:t>
            </a:r>
            <a:r>
              <a:rPr lang="en-US" sz="1500" spc="-5" dirty="0">
                <a:latin typeface="Tahoma"/>
                <a:cs typeface="Tahoma"/>
              </a:rPr>
              <a:t>231031005</a:t>
            </a:r>
            <a:r>
              <a:rPr sz="1500" spc="-5" dirty="0">
                <a:latin typeface="Tahoma"/>
                <a:cs typeface="Tahoma"/>
              </a:rPr>
              <a:t>)</a:t>
            </a:r>
            <a:endParaRPr sz="1500" dirty="0">
              <a:latin typeface="Tahoma"/>
              <a:cs typeface="Tahoma"/>
            </a:endParaRPr>
          </a:p>
          <a:p>
            <a:pPr marL="299085" indent="-287020">
              <a:lnSpc>
                <a:spcPct val="100000"/>
              </a:lnSpc>
              <a:spcBef>
                <a:spcPts val="455"/>
              </a:spcBef>
              <a:buFont typeface="Arial"/>
              <a:buChar char="•"/>
              <a:tabLst>
                <a:tab pos="299085" algn="l"/>
                <a:tab pos="299720" algn="l"/>
              </a:tabLst>
            </a:pPr>
            <a:r>
              <a:rPr lang="en-US" sz="1500" spc="-5" dirty="0">
                <a:latin typeface="Tahoma"/>
                <a:cs typeface="Tahoma"/>
              </a:rPr>
              <a:t>Devanshu Saroha</a:t>
            </a:r>
            <a:r>
              <a:rPr sz="1500" spc="-5" dirty="0">
                <a:latin typeface="Tahoma"/>
                <a:cs typeface="Tahoma"/>
              </a:rPr>
              <a:t> (</a:t>
            </a:r>
            <a:r>
              <a:rPr lang="en-US" sz="1500" spc="-5" dirty="0">
                <a:latin typeface="Tahoma"/>
                <a:cs typeface="Tahoma"/>
              </a:rPr>
              <a:t>231030153</a:t>
            </a:r>
            <a:r>
              <a:rPr sz="1500" spc="-5" dirty="0">
                <a:latin typeface="Tahoma"/>
                <a:cs typeface="Tahoma"/>
              </a:rPr>
              <a:t>)</a:t>
            </a:r>
            <a:endParaRPr sz="1500" dirty="0">
              <a:latin typeface="Tahoma"/>
              <a:cs typeface="Tahoma"/>
            </a:endParaRPr>
          </a:p>
          <a:p>
            <a:pPr marL="299085" indent="-287020">
              <a:lnSpc>
                <a:spcPct val="100000"/>
              </a:lnSpc>
              <a:spcBef>
                <a:spcPts val="445"/>
              </a:spcBef>
              <a:buFont typeface="Arial"/>
              <a:buChar char="•"/>
              <a:tabLst>
                <a:tab pos="299085" algn="l"/>
                <a:tab pos="299720" algn="l"/>
              </a:tabLst>
            </a:pPr>
            <a:r>
              <a:rPr lang="en-US" sz="1500" spc="-5" dirty="0">
                <a:latin typeface="Tahoma"/>
                <a:cs typeface="Tahoma"/>
              </a:rPr>
              <a:t>Sameeksha Shakya</a:t>
            </a:r>
            <a:r>
              <a:rPr sz="1500" spc="-5" dirty="0">
                <a:latin typeface="Tahoma"/>
                <a:cs typeface="Tahoma"/>
              </a:rPr>
              <a:t> (</a:t>
            </a:r>
            <a:r>
              <a:rPr lang="en-US" sz="1500" spc="-5" dirty="0">
                <a:latin typeface="Tahoma"/>
                <a:cs typeface="Tahoma"/>
              </a:rPr>
              <a:t>231030002</a:t>
            </a:r>
            <a:r>
              <a:rPr sz="1500" spc="-5" dirty="0">
                <a:latin typeface="Tahoma"/>
                <a:cs typeface="Tahoma"/>
              </a:rPr>
              <a:t>)</a:t>
            </a:r>
            <a:endParaRPr sz="1500" dirty="0">
              <a:latin typeface="Tahoma"/>
              <a:cs typeface="Tahoma"/>
            </a:endParaRPr>
          </a:p>
          <a:p>
            <a:pPr marL="299085" indent="-287020">
              <a:lnSpc>
                <a:spcPct val="100000"/>
              </a:lnSpc>
              <a:spcBef>
                <a:spcPts val="455"/>
              </a:spcBef>
              <a:buFont typeface="Arial"/>
              <a:buChar char="•"/>
              <a:tabLst>
                <a:tab pos="299085" algn="l"/>
                <a:tab pos="299720" algn="l"/>
              </a:tabLst>
            </a:pPr>
            <a:r>
              <a:rPr lang="en-US" sz="1500" spc="-5" dirty="0">
                <a:latin typeface="Tahoma"/>
                <a:cs typeface="Tahoma"/>
              </a:rPr>
              <a:t>Shivansh Sharma</a:t>
            </a:r>
            <a:r>
              <a:rPr sz="1500" spc="-5" dirty="0">
                <a:latin typeface="Tahoma"/>
                <a:cs typeface="Tahoma"/>
              </a:rPr>
              <a:t> (</a:t>
            </a:r>
            <a:r>
              <a:rPr lang="en-US" sz="1500" spc="-5" dirty="0">
                <a:latin typeface="Tahoma"/>
                <a:cs typeface="Tahoma"/>
              </a:rPr>
              <a:t>231030171</a:t>
            </a:r>
            <a:r>
              <a:rPr sz="1500" spc="-5" dirty="0">
                <a:latin typeface="Tahoma"/>
                <a:cs typeface="Tahoma"/>
              </a:rPr>
              <a:t>)</a:t>
            </a:r>
            <a:endParaRPr sz="1500" dirty="0">
              <a:latin typeface="Tahoma"/>
              <a:cs typeface="Tahoma"/>
            </a:endParaRPr>
          </a:p>
        </p:txBody>
      </p:sp>
      <p:sp>
        <p:nvSpPr>
          <p:cNvPr id="9" name="object 9"/>
          <p:cNvSpPr txBox="1"/>
          <p:nvPr/>
        </p:nvSpPr>
        <p:spPr>
          <a:xfrm>
            <a:off x="4675665" y="4965433"/>
            <a:ext cx="3355623" cy="931089"/>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Arial"/>
                <a:cs typeface="Arial"/>
              </a:rPr>
              <a:t>Supervisor</a:t>
            </a:r>
            <a:endParaRPr sz="1600" dirty="0">
              <a:latin typeface="Arial"/>
              <a:cs typeface="Arial"/>
            </a:endParaRPr>
          </a:p>
          <a:p>
            <a:pPr marL="354965" marR="7620" indent="-354965">
              <a:lnSpc>
                <a:spcPct val="124700"/>
              </a:lnSpc>
              <a:spcBef>
                <a:spcPts val="985"/>
              </a:spcBef>
              <a:buFont typeface="Arial"/>
              <a:buChar char="•"/>
              <a:tabLst>
                <a:tab pos="354965" algn="l"/>
                <a:tab pos="355600" algn="l"/>
              </a:tabLst>
            </a:pPr>
            <a:r>
              <a:rPr sz="1500" spc="-5" dirty="0">
                <a:latin typeface="Tahoma"/>
                <a:cs typeface="Tahoma"/>
              </a:rPr>
              <a:t>Name:</a:t>
            </a:r>
            <a:r>
              <a:rPr lang="en-US" sz="1500" spc="-5" dirty="0">
                <a:latin typeface="Tahoma"/>
                <a:cs typeface="Tahoma"/>
              </a:rPr>
              <a:t> Dr. Monika </a:t>
            </a:r>
            <a:br>
              <a:rPr lang="en-US" sz="1500" spc="-5" dirty="0">
                <a:latin typeface="Tahoma"/>
                <a:cs typeface="Tahoma"/>
              </a:rPr>
            </a:br>
            <a:r>
              <a:rPr sz="1500" dirty="0">
                <a:latin typeface="Tahoma"/>
                <a:cs typeface="Tahoma"/>
              </a:rPr>
              <a:t>De</a:t>
            </a:r>
            <a:r>
              <a:rPr sz="1500" spc="-5" dirty="0">
                <a:latin typeface="Tahoma"/>
                <a:cs typeface="Tahoma"/>
              </a:rPr>
              <a:t>p</a:t>
            </a:r>
            <a:r>
              <a:rPr sz="1500" dirty="0">
                <a:latin typeface="Tahoma"/>
                <a:cs typeface="Tahoma"/>
              </a:rPr>
              <a:t>a</a:t>
            </a:r>
            <a:r>
              <a:rPr sz="1500" spc="-5" dirty="0">
                <a:latin typeface="Tahoma"/>
                <a:cs typeface="Tahoma"/>
              </a:rPr>
              <a:t>r</a:t>
            </a:r>
            <a:r>
              <a:rPr sz="1500" dirty="0">
                <a:latin typeface="Tahoma"/>
                <a:cs typeface="Tahoma"/>
              </a:rPr>
              <a:t>t</a:t>
            </a:r>
            <a:r>
              <a:rPr sz="1500" spc="-5" dirty="0">
                <a:latin typeface="Tahoma"/>
                <a:cs typeface="Tahoma"/>
              </a:rPr>
              <a:t>m</a:t>
            </a:r>
            <a:r>
              <a:rPr sz="1500" dirty="0">
                <a:latin typeface="Tahoma"/>
                <a:cs typeface="Tahoma"/>
              </a:rPr>
              <a:t>ent:</a:t>
            </a:r>
            <a:r>
              <a:rPr lang="en-US" sz="1500" dirty="0">
                <a:latin typeface="Tahoma"/>
                <a:cs typeface="Tahoma"/>
              </a:rPr>
              <a:t> CSE &amp; IT</a:t>
            </a:r>
            <a:endParaRPr sz="1500" dirty="0">
              <a:latin typeface="Tahoma"/>
              <a:cs typeface="Tahoma"/>
            </a:endParaRPr>
          </a:p>
        </p:txBody>
      </p:sp>
      <p:sp>
        <p:nvSpPr>
          <p:cNvPr id="10" name="object 10"/>
          <p:cNvSpPr/>
          <p:nvPr/>
        </p:nvSpPr>
        <p:spPr>
          <a:xfrm>
            <a:off x="6852491" y="0"/>
            <a:ext cx="1178797" cy="730580"/>
          </a:xfrm>
          <a:prstGeom prst="rect">
            <a:avLst/>
          </a:prstGeom>
          <a:blipFill>
            <a:blip r:embed="rId2" cstate="print"/>
            <a:stretch>
              <a:fillRect/>
            </a:stretch>
          </a:blipFill>
        </p:spPr>
        <p:txBody>
          <a:bodyPr wrap="square" lIns="0" tIns="0" rIns="0" bIns="0" rtlCol="0"/>
          <a:lstStyle/>
          <a:p>
            <a:endParaRPr/>
          </a:p>
        </p:txBody>
      </p:sp>
      <p:sp>
        <p:nvSpPr>
          <p:cNvPr id="11" name="object 11"/>
          <p:cNvSpPr/>
          <p:nvPr/>
        </p:nvSpPr>
        <p:spPr>
          <a:xfrm>
            <a:off x="8054900" y="160426"/>
            <a:ext cx="1015706" cy="345490"/>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83489" y="93344"/>
            <a:ext cx="688426" cy="679005"/>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107759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rPr>
              <a:t>Outline</a:t>
            </a:r>
            <a:endParaRPr sz="2400"/>
          </a:p>
        </p:txBody>
      </p:sp>
      <p:sp>
        <p:nvSpPr>
          <p:cNvPr id="4" name="object 4"/>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sp>
        <p:nvSpPr>
          <p:cNvPr id="5" name="object 5"/>
          <p:cNvSpPr txBox="1">
            <a:spLocks noGrp="1"/>
          </p:cNvSpPr>
          <p:nvPr>
            <p:ph type="sldNum" sz="quarter" idx="7"/>
          </p:nvPr>
        </p:nvSpPr>
        <p:spPr>
          <a:xfrm>
            <a:off x="8870186" y="6665320"/>
            <a:ext cx="198120" cy="160300"/>
          </a:xfrm>
          <a:prstGeom prst="rect">
            <a:avLst/>
          </a:prstGeom>
        </p:spPr>
        <p:txBody>
          <a:bodyPr vert="horz" wrap="square" lIns="0" tIns="21590" rIns="0" bIns="0" rtlCol="0">
            <a:spAutoFit/>
          </a:bodyPr>
          <a:lstStyle/>
          <a:p>
            <a:pPr marL="38100">
              <a:lnSpc>
                <a:spcPct val="100000"/>
              </a:lnSpc>
              <a:spcBef>
                <a:spcPts val="170"/>
              </a:spcBef>
            </a:pPr>
            <a:r>
              <a:rPr dirty="0"/>
              <a:t>.</a:t>
            </a:r>
          </a:p>
        </p:txBody>
      </p:sp>
      <p:sp>
        <p:nvSpPr>
          <p:cNvPr id="3" name="object 3"/>
          <p:cNvSpPr txBox="1"/>
          <p:nvPr/>
        </p:nvSpPr>
        <p:spPr>
          <a:xfrm>
            <a:off x="251870" y="1054952"/>
            <a:ext cx="6079232" cy="4748095"/>
          </a:xfrm>
          <a:prstGeom prst="rect">
            <a:avLst/>
          </a:prstGeom>
        </p:spPr>
        <p:txBody>
          <a:bodyPr vert="horz" wrap="square" lIns="0" tIns="130175" rIns="0" bIns="0" rtlCol="0">
            <a:spAutoFit/>
          </a:bodyPr>
          <a:lstStyle/>
          <a:p>
            <a:pPr marL="274320" indent="-262255">
              <a:lnSpc>
                <a:spcPct val="100000"/>
              </a:lnSpc>
              <a:spcBef>
                <a:spcPts val="1025"/>
              </a:spcBef>
              <a:buSzPct val="125000"/>
              <a:buChar char="•"/>
              <a:tabLst>
                <a:tab pos="274320" algn="l"/>
                <a:tab pos="274955" algn="l"/>
              </a:tabLst>
            </a:pPr>
            <a:r>
              <a:rPr sz="1800" spc="-10" dirty="0">
                <a:latin typeface="Arial"/>
                <a:cs typeface="Arial"/>
              </a:rPr>
              <a:t>Introduction</a:t>
            </a:r>
            <a:endParaRPr sz="1800" dirty="0">
              <a:latin typeface="Arial"/>
              <a:cs typeface="Arial"/>
            </a:endParaRPr>
          </a:p>
          <a:p>
            <a:pPr marL="274320" indent="-262255">
              <a:lnSpc>
                <a:spcPct val="100000"/>
              </a:lnSpc>
              <a:spcBef>
                <a:spcPts val="1620"/>
              </a:spcBef>
              <a:buSzPct val="125000"/>
              <a:buChar char="•"/>
              <a:tabLst>
                <a:tab pos="274320" algn="l"/>
                <a:tab pos="274955" algn="l"/>
              </a:tabLst>
            </a:pPr>
            <a:r>
              <a:rPr sz="1800" spc="-10" dirty="0">
                <a:latin typeface="Arial"/>
                <a:cs typeface="Arial"/>
              </a:rPr>
              <a:t>Problem</a:t>
            </a:r>
            <a:r>
              <a:rPr sz="1800" dirty="0">
                <a:latin typeface="Arial"/>
                <a:cs typeface="Arial"/>
              </a:rPr>
              <a:t> </a:t>
            </a:r>
            <a:r>
              <a:rPr sz="1800" spc="-10" dirty="0">
                <a:latin typeface="Arial"/>
                <a:cs typeface="Arial"/>
              </a:rPr>
              <a:t>Statement</a:t>
            </a:r>
            <a:endParaRPr sz="1800" dirty="0">
              <a:latin typeface="Arial"/>
              <a:cs typeface="Arial"/>
            </a:endParaRPr>
          </a:p>
          <a:p>
            <a:pPr marL="274320" indent="-262255">
              <a:lnSpc>
                <a:spcPct val="100000"/>
              </a:lnSpc>
              <a:spcBef>
                <a:spcPts val="1620"/>
              </a:spcBef>
              <a:buSzPct val="125000"/>
              <a:buChar char="•"/>
              <a:tabLst>
                <a:tab pos="274320" algn="l"/>
                <a:tab pos="274955" algn="l"/>
              </a:tabLst>
            </a:pPr>
            <a:r>
              <a:rPr sz="1800" spc="-5" dirty="0">
                <a:latin typeface="Arial"/>
                <a:cs typeface="Arial"/>
              </a:rPr>
              <a:t>Project</a:t>
            </a:r>
            <a:r>
              <a:rPr sz="1800" spc="-10" dirty="0">
                <a:latin typeface="Arial"/>
                <a:cs typeface="Arial"/>
              </a:rPr>
              <a:t> Objectives</a:t>
            </a:r>
            <a:endParaRPr sz="1800" dirty="0">
              <a:latin typeface="Arial"/>
              <a:cs typeface="Arial"/>
            </a:endParaRPr>
          </a:p>
          <a:p>
            <a:pPr marL="274320" indent="-262255">
              <a:lnSpc>
                <a:spcPct val="100000"/>
              </a:lnSpc>
              <a:spcBef>
                <a:spcPts val="1620"/>
              </a:spcBef>
              <a:buSzPct val="125000"/>
              <a:buChar char="•"/>
              <a:tabLst>
                <a:tab pos="274320" algn="l"/>
                <a:tab pos="274955" algn="l"/>
              </a:tabLst>
            </a:pPr>
            <a:r>
              <a:rPr sz="1800" spc="-5" dirty="0">
                <a:latin typeface="Arial"/>
                <a:cs typeface="Arial"/>
              </a:rPr>
              <a:t>Literature </a:t>
            </a:r>
            <a:r>
              <a:rPr sz="1800" spc="-10" dirty="0">
                <a:latin typeface="Arial"/>
                <a:cs typeface="Arial"/>
              </a:rPr>
              <a:t>review</a:t>
            </a:r>
            <a:endParaRPr sz="1800" dirty="0">
              <a:latin typeface="Arial"/>
              <a:cs typeface="Arial"/>
            </a:endParaRPr>
          </a:p>
          <a:p>
            <a:pPr marL="274320" indent="-262255">
              <a:lnSpc>
                <a:spcPct val="100000"/>
              </a:lnSpc>
              <a:spcBef>
                <a:spcPts val="1620"/>
              </a:spcBef>
              <a:buSzPct val="125000"/>
              <a:buChar char="•"/>
              <a:tabLst>
                <a:tab pos="274320" algn="l"/>
                <a:tab pos="274955" algn="l"/>
              </a:tabLst>
            </a:pPr>
            <a:r>
              <a:rPr sz="1800" spc="-5" dirty="0">
                <a:latin typeface="Arial"/>
                <a:cs typeface="Arial"/>
              </a:rPr>
              <a:t>Project</a:t>
            </a:r>
            <a:r>
              <a:rPr sz="1800" spc="-10" dirty="0">
                <a:latin typeface="Arial"/>
                <a:cs typeface="Arial"/>
              </a:rPr>
              <a:t> Design</a:t>
            </a:r>
            <a:endParaRPr sz="1800" dirty="0">
              <a:latin typeface="Arial"/>
              <a:cs typeface="Arial"/>
            </a:endParaRPr>
          </a:p>
          <a:p>
            <a:pPr marL="274320" indent="-262255" algn="just">
              <a:lnSpc>
                <a:spcPct val="100000"/>
              </a:lnSpc>
              <a:spcBef>
                <a:spcPts val="1620"/>
              </a:spcBef>
              <a:buSzPct val="125000"/>
              <a:buChar char="•"/>
              <a:tabLst>
                <a:tab pos="274320" algn="l"/>
                <a:tab pos="274955" algn="l"/>
              </a:tabLst>
            </a:pPr>
            <a:r>
              <a:rPr sz="1800" spc="-5" dirty="0">
                <a:latin typeface="Arial"/>
                <a:cs typeface="Arial"/>
              </a:rPr>
              <a:t>Implementation </a:t>
            </a:r>
            <a:endParaRPr lang="en-US" sz="1800" spc="-5" dirty="0">
              <a:latin typeface="Arial"/>
              <a:cs typeface="Arial"/>
            </a:endParaRPr>
          </a:p>
          <a:p>
            <a:pPr marL="274320" indent="-262255">
              <a:lnSpc>
                <a:spcPct val="100000"/>
              </a:lnSpc>
              <a:spcBef>
                <a:spcPts val="1620"/>
              </a:spcBef>
              <a:buSzPct val="125000"/>
              <a:buChar char="•"/>
              <a:tabLst>
                <a:tab pos="274320" algn="l"/>
                <a:tab pos="274955" algn="l"/>
              </a:tabLst>
            </a:pPr>
            <a:r>
              <a:rPr lang="en-US" sz="1800" spc="-10" dirty="0">
                <a:latin typeface="Arial"/>
                <a:cs typeface="Arial"/>
              </a:rPr>
              <a:t>Experimental </a:t>
            </a:r>
            <a:r>
              <a:rPr lang="en-US" sz="1800" spc="-5" dirty="0">
                <a:latin typeface="Arial"/>
                <a:cs typeface="Arial"/>
              </a:rPr>
              <a:t>Results </a:t>
            </a:r>
            <a:r>
              <a:rPr lang="en-US" sz="1800" spc="-10" dirty="0">
                <a:latin typeface="Arial"/>
                <a:cs typeface="Arial"/>
              </a:rPr>
              <a:t>and Evaluation</a:t>
            </a:r>
            <a:endParaRPr lang="en-US" sz="1800" dirty="0">
              <a:latin typeface="Arial"/>
              <a:cs typeface="Arial"/>
            </a:endParaRPr>
          </a:p>
          <a:p>
            <a:pPr marL="274320" indent="-262255">
              <a:lnSpc>
                <a:spcPct val="100000"/>
              </a:lnSpc>
              <a:spcBef>
                <a:spcPts val="1620"/>
              </a:spcBef>
              <a:buSzPct val="125000"/>
              <a:buChar char="•"/>
              <a:tabLst>
                <a:tab pos="274320" algn="l"/>
                <a:tab pos="274955" algn="l"/>
              </a:tabLst>
            </a:pPr>
            <a:r>
              <a:rPr sz="1800" spc="-5" dirty="0">
                <a:latin typeface="Arial"/>
                <a:cs typeface="Arial"/>
              </a:rPr>
              <a:t>Future </a:t>
            </a:r>
            <a:r>
              <a:rPr sz="1800" spc="-15" dirty="0">
                <a:latin typeface="Arial"/>
                <a:cs typeface="Arial"/>
              </a:rPr>
              <a:t>work </a:t>
            </a:r>
            <a:r>
              <a:rPr sz="1800" spc="-5" dirty="0">
                <a:latin typeface="Arial"/>
                <a:cs typeface="Arial"/>
              </a:rPr>
              <a:t>(till </a:t>
            </a:r>
            <a:r>
              <a:rPr sz="1800" spc="-30" dirty="0">
                <a:latin typeface="Arial"/>
                <a:cs typeface="Arial"/>
              </a:rPr>
              <a:t>End-Term</a:t>
            </a:r>
            <a:r>
              <a:rPr sz="1800" spc="45" dirty="0">
                <a:latin typeface="Arial"/>
                <a:cs typeface="Arial"/>
              </a:rPr>
              <a:t> </a:t>
            </a:r>
            <a:r>
              <a:rPr sz="1800" spc="-10" dirty="0">
                <a:latin typeface="Arial"/>
                <a:cs typeface="Arial"/>
              </a:rPr>
              <a:t>Evaluation)</a:t>
            </a:r>
            <a:endParaRPr sz="1800" dirty="0">
              <a:latin typeface="Arial"/>
              <a:cs typeface="Arial"/>
            </a:endParaRPr>
          </a:p>
          <a:p>
            <a:pPr marL="274320" indent="-262255">
              <a:lnSpc>
                <a:spcPct val="100000"/>
              </a:lnSpc>
              <a:spcBef>
                <a:spcPts val="1620"/>
              </a:spcBef>
              <a:buSzPct val="125000"/>
              <a:buChar char="•"/>
              <a:tabLst>
                <a:tab pos="274320" algn="l"/>
                <a:tab pos="274955" algn="l"/>
              </a:tabLst>
            </a:pPr>
            <a:r>
              <a:rPr sz="1800" spc="-10" dirty="0">
                <a:latin typeface="Arial"/>
                <a:cs typeface="Arial"/>
              </a:rPr>
              <a:t>Work</a:t>
            </a:r>
            <a:r>
              <a:rPr sz="1800" spc="-20" dirty="0">
                <a:latin typeface="Arial"/>
                <a:cs typeface="Arial"/>
              </a:rPr>
              <a:t> </a:t>
            </a:r>
            <a:r>
              <a:rPr sz="1800" spc="-10" dirty="0">
                <a:latin typeface="Arial"/>
                <a:cs typeface="Arial"/>
              </a:rPr>
              <a:t>Contribution</a:t>
            </a:r>
            <a:endParaRPr sz="1800" dirty="0">
              <a:latin typeface="Arial"/>
              <a:cs typeface="Arial"/>
            </a:endParaRPr>
          </a:p>
          <a:p>
            <a:pPr marL="274320" indent="-262255">
              <a:lnSpc>
                <a:spcPct val="100000"/>
              </a:lnSpc>
              <a:spcBef>
                <a:spcPts val="1620"/>
              </a:spcBef>
              <a:buSzPct val="125000"/>
              <a:buChar char="•"/>
              <a:tabLst>
                <a:tab pos="274320" algn="l"/>
                <a:tab pos="274955" algn="l"/>
              </a:tabLst>
            </a:pPr>
            <a:r>
              <a:rPr sz="1800" spc="-10" dirty="0">
                <a:latin typeface="Arial"/>
                <a:cs typeface="Arial"/>
              </a:rPr>
              <a:t>References</a:t>
            </a:r>
            <a:endParaRPr sz="1800" dirty="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180467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rPr>
              <a:t>Introduction</a:t>
            </a:r>
            <a:endParaRPr sz="2400"/>
          </a:p>
        </p:txBody>
      </p:sp>
      <p:sp>
        <p:nvSpPr>
          <p:cNvPr id="4" name="object 4"/>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sp>
        <p:nvSpPr>
          <p:cNvPr id="3" name="object 3"/>
          <p:cNvSpPr txBox="1"/>
          <p:nvPr/>
        </p:nvSpPr>
        <p:spPr>
          <a:xfrm>
            <a:off x="380226" y="990600"/>
            <a:ext cx="8383548" cy="4860305"/>
          </a:xfrm>
          <a:prstGeom prst="rect">
            <a:avLst/>
          </a:prstGeom>
        </p:spPr>
        <p:txBody>
          <a:bodyPr vert="horz" wrap="square" lIns="0" tIns="12700" rIns="0" bIns="0" rtlCol="0">
            <a:spAutoFit/>
          </a:bodyPr>
          <a:lstStyle/>
          <a:p>
            <a:pPr algn="just">
              <a:buNone/>
            </a:pPr>
            <a:r>
              <a:rPr lang="en-US" dirty="0"/>
              <a:t>Mental stress has become a significant issue among students and professionals due to increasing academic pressure, workload, and lifestyle imbalance. Traditional stress detection methods rely on surveys or clinical evaluation, which are often time-consuming and subjective.</a:t>
            </a:r>
          </a:p>
          <a:p>
            <a:pPr algn="just">
              <a:buNone/>
            </a:pPr>
            <a:r>
              <a:rPr lang="en-US" dirty="0"/>
              <a:t>Recent advancements in machine learning and computer vision enable automated systems to analyze behavioral and facial signals to estimate stress levels.</a:t>
            </a:r>
          </a:p>
          <a:p>
            <a:pPr algn="just">
              <a:buNone/>
            </a:pPr>
            <a:endParaRPr lang="en-US" dirty="0"/>
          </a:p>
          <a:p>
            <a:pPr algn="just">
              <a:lnSpc>
                <a:spcPct val="150000"/>
              </a:lnSpc>
              <a:buNone/>
            </a:pPr>
            <a:r>
              <a:rPr lang="en-US" dirty="0"/>
              <a:t>This project proposes an AI-based Stress Management System that integrates:</a:t>
            </a:r>
          </a:p>
          <a:p>
            <a:pPr marL="285750" indent="-285750" algn="just">
              <a:lnSpc>
                <a:spcPct val="150000"/>
              </a:lnSpc>
              <a:buFont typeface="Wingdings" panose="05000000000000000000" pitchFamily="2" charset="2"/>
              <a:buChar char="ü"/>
            </a:pPr>
            <a:r>
              <a:rPr lang="en-US" dirty="0"/>
              <a:t>Behavioural routine analysis</a:t>
            </a:r>
          </a:p>
          <a:p>
            <a:pPr marL="285750" indent="-285750" algn="just">
              <a:lnSpc>
                <a:spcPct val="150000"/>
              </a:lnSpc>
              <a:buFont typeface="Wingdings" panose="05000000000000000000" pitchFamily="2" charset="2"/>
              <a:buChar char="ü"/>
            </a:pPr>
            <a:r>
              <a:rPr lang="en-US" dirty="0"/>
              <a:t>Facial feature extraction</a:t>
            </a:r>
          </a:p>
          <a:p>
            <a:pPr marL="285750" indent="-285750" algn="just">
              <a:lnSpc>
                <a:spcPct val="150000"/>
              </a:lnSpc>
              <a:buFont typeface="Wingdings" panose="05000000000000000000" pitchFamily="2" charset="2"/>
              <a:buChar char="ü"/>
            </a:pPr>
            <a:r>
              <a:rPr lang="en-US" dirty="0"/>
              <a:t>Emotion detection</a:t>
            </a:r>
          </a:p>
          <a:p>
            <a:pPr marL="285750" indent="-285750" algn="just">
              <a:lnSpc>
                <a:spcPct val="150000"/>
              </a:lnSpc>
              <a:buFont typeface="Wingdings" panose="05000000000000000000" pitchFamily="2" charset="2"/>
              <a:buChar char="ü"/>
            </a:pPr>
            <a:r>
              <a:rPr lang="en-US" dirty="0"/>
              <a:t>Machine learning classification</a:t>
            </a:r>
          </a:p>
          <a:p>
            <a:pPr algn="just"/>
            <a:endParaRPr lang="en-US" dirty="0"/>
          </a:p>
          <a:p>
            <a:pPr algn="just"/>
            <a:r>
              <a:rPr lang="en-US" dirty="0"/>
              <a:t>The system predicts stress levels and generates personalized stress-management recommendations.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279971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rPr>
              <a:t>Problem</a:t>
            </a:r>
            <a:r>
              <a:rPr sz="2400" spc="-75" dirty="0">
                <a:solidFill>
                  <a:srgbClr val="FFFFFF"/>
                </a:solidFill>
              </a:rPr>
              <a:t> </a:t>
            </a:r>
            <a:r>
              <a:rPr sz="2400" spc="-5" dirty="0">
                <a:solidFill>
                  <a:srgbClr val="FFFFFF"/>
                </a:solidFill>
              </a:rPr>
              <a:t>Statement</a:t>
            </a:r>
            <a:endParaRPr sz="2400"/>
          </a:p>
        </p:txBody>
      </p:sp>
      <p:sp>
        <p:nvSpPr>
          <p:cNvPr id="4" name="object 4"/>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sp>
        <p:nvSpPr>
          <p:cNvPr id="3" name="object 3"/>
          <p:cNvSpPr txBox="1"/>
          <p:nvPr/>
        </p:nvSpPr>
        <p:spPr>
          <a:xfrm>
            <a:off x="262842" y="990600"/>
            <a:ext cx="8618316" cy="3059812"/>
          </a:xfrm>
          <a:prstGeom prst="rect">
            <a:avLst/>
          </a:prstGeom>
        </p:spPr>
        <p:txBody>
          <a:bodyPr vert="horz" wrap="square" lIns="0" tIns="12700" rIns="0" bIns="0" rtlCol="0">
            <a:spAutoFit/>
          </a:bodyPr>
          <a:lstStyle/>
          <a:p>
            <a:pPr algn="just">
              <a:buNone/>
            </a:pPr>
            <a:r>
              <a:rPr lang="en-US" dirty="0"/>
              <a:t>Mental stress is difficult to detect at an early stage because it is influenced by multiple behavioural and emotional factors. Existing stress detection systems are limited in scope, as they typically rely on a single source such as physiological sensors, questionnaires, or emotion detection techniques, which may not provide a complete understanding of an individual’s mental state.</a:t>
            </a:r>
          </a:p>
          <a:p>
            <a:pPr algn="just">
              <a:buNone/>
            </a:pPr>
            <a:endParaRPr lang="en-US" dirty="0"/>
          </a:p>
          <a:p>
            <a:pPr algn="just"/>
            <a:r>
              <a:rPr lang="en-US" dirty="0"/>
              <a:t>To address these limitations, there is a need for an integrated system that combines behavioural lifestyle data with facial emotional cues to improve accuracy. Such a system should not only predict stress levels but also provide interpretable results and meaningful insights. This project proposes a hybrid AI-based stress intelligence system that analyzes multiple signals to estimate stress levels and explain the contributing factors effectively.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3522979" cy="382156"/>
          </a:xfrm>
          <a:prstGeom prst="rect">
            <a:avLst/>
          </a:prstGeom>
        </p:spPr>
        <p:txBody>
          <a:bodyPr vert="horz" wrap="square" lIns="0" tIns="12700" rIns="0" bIns="0" rtlCol="0">
            <a:spAutoFit/>
          </a:bodyPr>
          <a:lstStyle/>
          <a:p>
            <a:pPr marL="12700">
              <a:lnSpc>
                <a:spcPct val="100000"/>
              </a:lnSpc>
              <a:spcBef>
                <a:spcPts val="100"/>
              </a:spcBef>
            </a:pPr>
            <a:r>
              <a:rPr lang="en-IN" sz="2400" spc="-5" dirty="0">
                <a:solidFill>
                  <a:srgbClr val="FFFFFF"/>
                </a:solidFill>
              </a:rPr>
              <a:t>Project </a:t>
            </a:r>
            <a:r>
              <a:rPr sz="2400" spc="-5" dirty="0">
                <a:solidFill>
                  <a:srgbClr val="FFFFFF"/>
                </a:solidFill>
              </a:rPr>
              <a:t>Objectives</a:t>
            </a:r>
            <a:endParaRPr sz="2400" dirty="0"/>
          </a:p>
        </p:txBody>
      </p:sp>
      <p:sp>
        <p:nvSpPr>
          <p:cNvPr id="4" name="object 4"/>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sp>
        <p:nvSpPr>
          <p:cNvPr id="3" name="object 3"/>
          <p:cNvSpPr txBox="1"/>
          <p:nvPr/>
        </p:nvSpPr>
        <p:spPr>
          <a:xfrm>
            <a:off x="327564" y="1262702"/>
            <a:ext cx="8816436" cy="4332596"/>
          </a:xfrm>
          <a:prstGeom prst="rect">
            <a:avLst/>
          </a:prstGeom>
        </p:spPr>
        <p:txBody>
          <a:bodyPr vert="horz" wrap="square" lIns="0" tIns="12700" rIns="0" bIns="0" rtlCol="0">
            <a:spAutoFit/>
          </a:bodyPr>
          <a:lstStyle/>
          <a:p>
            <a:pPr algn="just">
              <a:buNone/>
            </a:pPr>
            <a:r>
              <a:rPr lang="en-US" dirty="0"/>
              <a:t>The primary objectives of this project are:</a:t>
            </a:r>
          </a:p>
          <a:p>
            <a:pPr marL="342900" indent="-342900" algn="just">
              <a:lnSpc>
                <a:spcPct val="250000"/>
              </a:lnSpc>
              <a:buFont typeface="Wingdings" panose="05000000000000000000" pitchFamily="2" charset="2"/>
              <a:buChar char="ü"/>
            </a:pPr>
            <a:r>
              <a:rPr lang="en-US" dirty="0"/>
              <a:t>To develop a machine learning model capable of predicting stress levels.</a:t>
            </a:r>
          </a:p>
          <a:p>
            <a:pPr marL="342900" indent="-342900" algn="just">
              <a:lnSpc>
                <a:spcPct val="250000"/>
              </a:lnSpc>
              <a:buFont typeface="Wingdings" panose="05000000000000000000" pitchFamily="2" charset="2"/>
              <a:buChar char="ü"/>
            </a:pPr>
            <a:r>
              <a:rPr lang="en-US" dirty="0"/>
              <a:t>To integrate behavioral routine data and facial emotional signals.</a:t>
            </a:r>
          </a:p>
          <a:p>
            <a:pPr marL="342900" indent="-342900" algn="just">
              <a:lnSpc>
                <a:spcPct val="250000"/>
              </a:lnSpc>
              <a:buFont typeface="Wingdings" panose="05000000000000000000" pitchFamily="2" charset="2"/>
              <a:buChar char="ü"/>
            </a:pPr>
            <a:r>
              <a:rPr lang="en-US" dirty="0"/>
              <a:t>To implement real-time facial feature extraction using computer vision.</a:t>
            </a:r>
          </a:p>
          <a:p>
            <a:pPr marL="342900" indent="-342900" algn="just">
              <a:lnSpc>
                <a:spcPct val="250000"/>
              </a:lnSpc>
              <a:buFont typeface="Wingdings" panose="05000000000000000000" pitchFamily="2" charset="2"/>
              <a:buChar char="ü"/>
            </a:pPr>
            <a:r>
              <a:rPr lang="en-US" dirty="0"/>
              <a:t>To use Explainable AI techniques to interpret model predictions.</a:t>
            </a:r>
          </a:p>
          <a:p>
            <a:pPr marL="342900" indent="-342900" algn="just">
              <a:lnSpc>
                <a:spcPct val="250000"/>
              </a:lnSpc>
              <a:buFont typeface="Wingdings" panose="05000000000000000000" pitchFamily="2" charset="2"/>
              <a:buChar char="ü"/>
            </a:pPr>
            <a:r>
              <a:rPr lang="en-US" dirty="0"/>
              <a:t>To generate personalized cognitive reports using a local Large Language Model.</a:t>
            </a:r>
          </a:p>
          <a:p>
            <a:pPr marL="342900" indent="-342900" algn="just">
              <a:lnSpc>
                <a:spcPct val="250000"/>
              </a:lnSpc>
              <a:buFont typeface="Wingdings" panose="05000000000000000000" pitchFamily="2" charset="2"/>
              <a:buChar char="ü"/>
            </a:pPr>
            <a:r>
              <a:rPr lang="en-US" dirty="0"/>
              <a:t>To build an interactive user interface for stress monitoring and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4970780" cy="382156"/>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rPr>
              <a:t>Literature</a:t>
            </a:r>
            <a:r>
              <a:rPr sz="2400" spc="-80" dirty="0">
                <a:solidFill>
                  <a:srgbClr val="FFFFFF"/>
                </a:solidFill>
              </a:rPr>
              <a:t> </a:t>
            </a:r>
            <a:r>
              <a:rPr sz="2400" spc="-5" dirty="0">
                <a:solidFill>
                  <a:srgbClr val="FFFFFF"/>
                </a:solidFill>
              </a:rPr>
              <a:t>Review</a:t>
            </a:r>
            <a:r>
              <a:rPr lang="en-US" sz="2400" spc="-5" dirty="0">
                <a:solidFill>
                  <a:srgbClr val="FFFFFF"/>
                </a:solidFill>
              </a:rPr>
              <a:t>(1)</a:t>
            </a:r>
            <a:endParaRPr sz="2400" dirty="0"/>
          </a:p>
        </p:txBody>
      </p:sp>
      <p:sp>
        <p:nvSpPr>
          <p:cNvPr id="4" name="object 4"/>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graphicFrame>
        <p:nvGraphicFramePr>
          <p:cNvPr id="7" name="Table 6">
            <a:extLst>
              <a:ext uri="{FF2B5EF4-FFF2-40B4-BE49-F238E27FC236}">
                <a16:creationId xmlns:a16="http://schemas.microsoft.com/office/drawing/2014/main" id="{7F581857-BBE6-A5B2-863E-03EBE8CF850E}"/>
              </a:ext>
            </a:extLst>
          </p:cNvPr>
          <p:cNvGraphicFramePr>
            <a:graphicFrameLocks noGrp="1"/>
          </p:cNvGraphicFramePr>
          <p:nvPr>
            <p:extLst>
              <p:ext uri="{D42A27DB-BD31-4B8C-83A1-F6EECF244321}">
                <p14:modId xmlns:p14="http://schemas.microsoft.com/office/powerpoint/2010/main" val="1117227622"/>
              </p:ext>
            </p:extLst>
          </p:nvPr>
        </p:nvGraphicFramePr>
        <p:xfrm>
          <a:off x="152146" y="990600"/>
          <a:ext cx="8839707" cy="5231305"/>
        </p:xfrm>
        <a:graphic>
          <a:graphicData uri="http://schemas.openxmlformats.org/drawingml/2006/table">
            <a:tbl>
              <a:tblPr firstRow="1" bandRow="1">
                <a:tableStyleId>{073A0DAA-6AF3-43AB-8588-CEC1D06C72B9}</a:tableStyleId>
              </a:tblPr>
              <a:tblGrid>
                <a:gridCol w="974254">
                  <a:extLst>
                    <a:ext uri="{9D8B030D-6E8A-4147-A177-3AD203B41FA5}">
                      <a16:colId xmlns:a16="http://schemas.microsoft.com/office/drawing/2014/main" val="3550556875"/>
                    </a:ext>
                  </a:extLst>
                </a:gridCol>
                <a:gridCol w="1572991">
                  <a:extLst>
                    <a:ext uri="{9D8B030D-6E8A-4147-A177-3AD203B41FA5}">
                      <a16:colId xmlns:a16="http://schemas.microsoft.com/office/drawing/2014/main" val="3447862875"/>
                    </a:ext>
                  </a:extLst>
                </a:gridCol>
                <a:gridCol w="1348278">
                  <a:extLst>
                    <a:ext uri="{9D8B030D-6E8A-4147-A177-3AD203B41FA5}">
                      <a16:colId xmlns:a16="http://schemas.microsoft.com/office/drawing/2014/main" val="4285694833"/>
                    </a:ext>
                  </a:extLst>
                </a:gridCol>
                <a:gridCol w="2116371">
                  <a:extLst>
                    <a:ext uri="{9D8B030D-6E8A-4147-A177-3AD203B41FA5}">
                      <a16:colId xmlns:a16="http://schemas.microsoft.com/office/drawing/2014/main" val="1957140032"/>
                    </a:ext>
                  </a:extLst>
                </a:gridCol>
                <a:gridCol w="1553461">
                  <a:extLst>
                    <a:ext uri="{9D8B030D-6E8A-4147-A177-3AD203B41FA5}">
                      <a16:colId xmlns:a16="http://schemas.microsoft.com/office/drawing/2014/main" val="4145089674"/>
                    </a:ext>
                  </a:extLst>
                </a:gridCol>
                <a:gridCol w="1274352">
                  <a:extLst>
                    <a:ext uri="{9D8B030D-6E8A-4147-A177-3AD203B41FA5}">
                      <a16:colId xmlns:a16="http://schemas.microsoft.com/office/drawing/2014/main" val="4229431768"/>
                    </a:ext>
                  </a:extLst>
                </a:gridCol>
              </a:tblGrid>
              <a:tr h="634666">
                <a:tc>
                  <a:txBody>
                    <a:bodyPr/>
                    <a:lstStyle/>
                    <a:p>
                      <a:pPr algn="ctr"/>
                      <a:r>
                        <a:rPr lang="en-US" sz="1700" dirty="0"/>
                        <a:t>Authors</a:t>
                      </a:r>
                      <a:br>
                        <a:rPr lang="en-US" sz="1700" dirty="0"/>
                      </a:br>
                      <a:r>
                        <a:rPr lang="en-US" sz="1700" dirty="0"/>
                        <a:t>[Ref.]</a:t>
                      </a:r>
                      <a:endParaRPr lang="en-IN" sz="1700" dirty="0"/>
                    </a:p>
                  </a:txBody>
                  <a:tcPr/>
                </a:tc>
                <a:tc>
                  <a:txBody>
                    <a:bodyPr/>
                    <a:lstStyle/>
                    <a:p>
                      <a:pPr algn="ctr"/>
                      <a:r>
                        <a:rPr lang="en-US" sz="1700" dirty="0"/>
                        <a:t>Title/Year</a:t>
                      </a:r>
                      <a:endParaRPr lang="en-IN" sz="1700" dirty="0"/>
                    </a:p>
                  </a:txBody>
                  <a:tcPr/>
                </a:tc>
                <a:tc>
                  <a:txBody>
                    <a:bodyPr/>
                    <a:lstStyle/>
                    <a:p>
                      <a:pPr algn="ctr"/>
                      <a:r>
                        <a:rPr lang="en-US" sz="1700" dirty="0"/>
                        <a:t>Method</a:t>
                      </a:r>
                      <a:br>
                        <a:rPr lang="en-US" sz="1700" dirty="0"/>
                      </a:br>
                      <a:r>
                        <a:rPr lang="en-US" sz="1700" dirty="0"/>
                        <a:t>(Approach)</a:t>
                      </a:r>
                      <a:endParaRPr lang="en-IN" sz="1700" dirty="0"/>
                    </a:p>
                  </a:txBody>
                  <a:tcPr/>
                </a:tc>
                <a:tc>
                  <a:txBody>
                    <a:bodyPr/>
                    <a:lstStyle/>
                    <a:p>
                      <a:pPr algn="ctr"/>
                      <a:r>
                        <a:rPr lang="en-US" sz="1700" dirty="0"/>
                        <a:t>Work Done</a:t>
                      </a:r>
                      <a:endParaRPr lang="en-IN" sz="1700" dirty="0"/>
                    </a:p>
                  </a:txBody>
                  <a:tcPr/>
                </a:tc>
                <a:tc>
                  <a:txBody>
                    <a:bodyPr/>
                    <a:lstStyle/>
                    <a:p>
                      <a:pPr algn="ctr"/>
                      <a:r>
                        <a:rPr lang="en-US" sz="1700" dirty="0"/>
                        <a:t>Advantages</a:t>
                      </a:r>
                      <a:endParaRPr lang="en-IN" sz="1700" dirty="0"/>
                    </a:p>
                  </a:txBody>
                  <a:tcPr/>
                </a:tc>
                <a:tc>
                  <a:txBody>
                    <a:bodyPr/>
                    <a:lstStyle/>
                    <a:p>
                      <a:pPr algn="ctr"/>
                      <a:r>
                        <a:rPr lang="en-US" sz="1700" dirty="0"/>
                        <a:t>Limitations</a:t>
                      </a:r>
                      <a:endParaRPr lang="en-IN" sz="1700" dirty="0"/>
                    </a:p>
                  </a:txBody>
                  <a:tcPr/>
                </a:tc>
                <a:extLst>
                  <a:ext uri="{0D108BD9-81ED-4DB2-BD59-A6C34878D82A}">
                    <a16:rowId xmlns:a16="http://schemas.microsoft.com/office/drawing/2014/main" val="2896938257"/>
                  </a:ext>
                </a:extLst>
              </a:tr>
              <a:tr h="1346534">
                <a:tc>
                  <a:txBody>
                    <a:bodyPr/>
                    <a:lstStyle/>
                    <a:p>
                      <a:pPr algn="l"/>
                      <a:r>
                        <a:rPr lang="en-IN" sz="1600" b="0" i="0" dirty="0">
                          <a:solidFill>
                            <a:schemeClr val="dk1"/>
                          </a:solidFill>
                          <a:effectLst/>
                          <a:latin typeface="+mn-lt"/>
                          <a:ea typeface="+mn-ea"/>
                          <a:cs typeface="+mn-cs"/>
                        </a:rPr>
                        <a:t>Zhang et al. [1]</a:t>
                      </a:r>
                      <a:endParaRPr lang="en-IN" sz="1700" dirty="0"/>
                    </a:p>
                  </a:txBody>
                  <a:tcPr/>
                </a:tc>
                <a:tc>
                  <a:txBody>
                    <a:bodyPr/>
                    <a:lstStyle/>
                    <a:p>
                      <a:pPr algn="l"/>
                      <a:r>
                        <a:rPr lang="en-IN" sz="1600" b="0" i="0" dirty="0">
                          <a:solidFill>
                            <a:schemeClr val="dk1"/>
                          </a:solidFill>
                          <a:effectLst/>
                          <a:latin typeface="+mn-lt"/>
                          <a:ea typeface="+mn-ea"/>
                          <a:cs typeface="+mn-cs"/>
                        </a:rPr>
                        <a:t>Multimodal Stress Detection (2022)</a:t>
                      </a:r>
                      <a:endParaRPr lang="en-IN" sz="1700" dirty="0"/>
                    </a:p>
                  </a:txBody>
                  <a:tcPr/>
                </a:tc>
                <a:tc>
                  <a:txBody>
                    <a:bodyPr/>
                    <a:lstStyle/>
                    <a:p>
                      <a:pPr algn="l"/>
                      <a:r>
                        <a:rPr lang="en-IN" sz="1600" b="0" i="0" dirty="0">
                          <a:solidFill>
                            <a:schemeClr val="dk1"/>
                          </a:solidFill>
                          <a:effectLst/>
                          <a:latin typeface="+mn-lt"/>
                          <a:ea typeface="+mn-ea"/>
                          <a:cs typeface="+mn-cs"/>
                        </a:rPr>
                        <a:t>CNN + Multimodal Fusion</a:t>
                      </a:r>
                      <a:endParaRPr lang="en-IN" sz="1700" dirty="0"/>
                    </a:p>
                  </a:txBody>
                  <a:tcPr/>
                </a:tc>
                <a:tc>
                  <a:txBody>
                    <a:bodyPr/>
                    <a:lstStyle/>
                    <a:p>
                      <a:pPr algn="l"/>
                      <a:r>
                        <a:rPr lang="en-US" sz="1600" b="0" i="0" dirty="0">
                          <a:solidFill>
                            <a:schemeClr val="dk1"/>
                          </a:solidFill>
                          <a:effectLst/>
                          <a:latin typeface="+mn-lt"/>
                          <a:ea typeface="+mn-ea"/>
                          <a:cs typeface="+mn-cs"/>
                        </a:rPr>
                        <a:t>Combined facial expressions with physiological signals (ECG, etc.) for stress prediction</a:t>
                      </a:r>
                      <a:endParaRPr lang="en-IN" sz="1700" dirty="0"/>
                    </a:p>
                  </a:txBody>
                  <a:tcPr/>
                </a:tc>
                <a:tc>
                  <a:txBody>
                    <a:bodyPr/>
                    <a:lstStyle/>
                    <a:p>
                      <a:pPr algn="l"/>
                      <a:r>
                        <a:rPr lang="en-US" sz="1600" b="0" i="0" dirty="0">
                          <a:solidFill>
                            <a:schemeClr val="dk1"/>
                          </a:solidFill>
                          <a:effectLst/>
                          <a:latin typeface="+mn-lt"/>
                          <a:ea typeface="+mn-ea"/>
                          <a:cs typeface="+mn-cs"/>
                        </a:rPr>
                        <a:t>Higher accuracy due to multiple data sources</a:t>
                      </a:r>
                      <a:endParaRPr lang="en-IN" sz="1700" dirty="0"/>
                    </a:p>
                  </a:txBody>
                  <a:tcPr/>
                </a:tc>
                <a:tc>
                  <a:txBody>
                    <a:bodyPr/>
                    <a:lstStyle/>
                    <a:p>
                      <a:pPr algn="l"/>
                      <a:r>
                        <a:rPr lang="en-US" sz="1600" b="0" i="0" dirty="0">
                          <a:solidFill>
                            <a:schemeClr val="dk1"/>
                          </a:solidFill>
                          <a:effectLst/>
                          <a:latin typeface="+mn-lt"/>
                          <a:ea typeface="+mn-ea"/>
                          <a:cs typeface="+mn-cs"/>
                        </a:rPr>
                        <a:t>Requires sensors and complex data collection</a:t>
                      </a:r>
                      <a:endParaRPr lang="en-IN" sz="1700" dirty="0"/>
                    </a:p>
                  </a:txBody>
                  <a:tcPr/>
                </a:tc>
                <a:extLst>
                  <a:ext uri="{0D108BD9-81ED-4DB2-BD59-A6C34878D82A}">
                    <a16:rowId xmlns:a16="http://schemas.microsoft.com/office/drawing/2014/main" val="582358373"/>
                  </a:ext>
                </a:extLst>
              </a:tr>
              <a:tr h="1066800">
                <a:tc>
                  <a:txBody>
                    <a:bodyPr/>
                    <a:lstStyle/>
                    <a:p>
                      <a:pPr algn="l"/>
                      <a:r>
                        <a:rPr lang="en-IN" sz="1600" b="0" i="0" dirty="0">
                          <a:solidFill>
                            <a:schemeClr val="dk1"/>
                          </a:solidFill>
                          <a:effectLst/>
                          <a:latin typeface="+mn-lt"/>
                          <a:ea typeface="+mn-ea"/>
                          <a:cs typeface="+mn-cs"/>
                        </a:rPr>
                        <a:t>Kaur et al. [2]</a:t>
                      </a:r>
                      <a:endParaRPr lang="en-IN" sz="1700" dirty="0"/>
                    </a:p>
                  </a:txBody>
                  <a:tcPr/>
                </a:tc>
                <a:tc>
                  <a:txBody>
                    <a:bodyPr/>
                    <a:lstStyle/>
                    <a:p>
                      <a:pPr algn="l"/>
                      <a:r>
                        <a:rPr lang="en-IN" sz="1600" b="0" i="0" dirty="0" err="1">
                          <a:solidFill>
                            <a:schemeClr val="dk1"/>
                          </a:solidFill>
                          <a:effectLst/>
                          <a:latin typeface="+mn-lt"/>
                          <a:ea typeface="+mn-ea"/>
                          <a:cs typeface="+mn-cs"/>
                        </a:rPr>
                        <a:t>EmpathicSchool</a:t>
                      </a:r>
                      <a:r>
                        <a:rPr lang="en-IN" sz="1600" b="0" i="0" dirty="0">
                          <a:solidFill>
                            <a:schemeClr val="dk1"/>
                          </a:solidFill>
                          <a:effectLst/>
                          <a:latin typeface="+mn-lt"/>
                          <a:ea typeface="+mn-ea"/>
                          <a:cs typeface="+mn-cs"/>
                        </a:rPr>
                        <a:t> (2025)</a:t>
                      </a:r>
                      <a:endParaRPr lang="en-IN" sz="1700" dirty="0"/>
                    </a:p>
                  </a:txBody>
                  <a:tcPr/>
                </a:tc>
                <a:tc>
                  <a:txBody>
                    <a:bodyPr/>
                    <a:lstStyle/>
                    <a:p>
                      <a:pPr algn="l"/>
                      <a:r>
                        <a:rPr lang="en-IN" sz="1600" b="0" i="0" dirty="0">
                          <a:solidFill>
                            <a:schemeClr val="dk1"/>
                          </a:solidFill>
                          <a:effectLst/>
                          <a:latin typeface="+mn-lt"/>
                          <a:ea typeface="+mn-ea"/>
                          <a:cs typeface="+mn-cs"/>
                        </a:rPr>
                        <a:t>Dataset + AI Models</a:t>
                      </a:r>
                      <a:endParaRPr lang="en-IN" sz="1700" dirty="0"/>
                    </a:p>
                  </a:txBody>
                  <a:tcPr/>
                </a:tc>
                <a:tc>
                  <a:txBody>
                    <a:bodyPr/>
                    <a:lstStyle/>
                    <a:p>
                      <a:pPr algn="l"/>
                      <a:r>
                        <a:rPr lang="en-US" sz="1600" b="0" i="0" dirty="0">
                          <a:solidFill>
                            <a:schemeClr val="dk1"/>
                          </a:solidFill>
                          <a:effectLst/>
                          <a:latin typeface="+mn-lt"/>
                          <a:ea typeface="+mn-ea"/>
                          <a:cs typeface="+mn-cs"/>
                        </a:rPr>
                        <a:t>Created student-focused stress dataset and applied AI models</a:t>
                      </a:r>
                      <a:endParaRPr lang="en-IN" sz="1700" dirty="0"/>
                    </a:p>
                  </a:txBody>
                  <a:tcPr/>
                </a:tc>
                <a:tc>
                  <a:txBody>
                    <a:bodyPr/>
                    <a:lstStyle/>
                    <a:p>
                      <a:pPr algn="l"/>
                      <a:r>
                        <a:rPr lang="en-IN" sz="1600" b="0" i="0" dirty="0">
                          <a:solidFill>
                            <a:schemeClr val="dk1"/>
                          </a:solidFill>
                          <a:effectLst/>
                          <a:latin typeface="+mn-lt"/>
                          <a:ea typeface="+mn-ea"/>
                          <a:cs typeface="+mn-cs"/>
                        </a:rPr>
                        <a:t>Real-world dataset improves relevance</a:t>
                      </a:r>
                      <a:endParaRPr lang="en-IN" sz="1700" dirty="0"/>
                    </a:p>
                  </a:txBody>
                  <a:tcPr/>
                </a:tc>
                <a:tc>
                  <a:txBody>
                    <a:bodyPr/>
                    <a:lstStyle/>
                    <a:p>
                      <a:pPr algn="l"/>
                      <a:r>
                        <a:rPr lang="en-IN" sz="1600" b="0" i="0" dirty="0">
                          <a:solidFill>
                            <a:schemeClr val="dk1"/>
                          </a:solidFill>
                          <a:effectLst/>
                          <a:latin typeface="+mn-lt"/>
                          <a:ea typeface="+mn-ea"/>
                          <a:cs typeface="+mn-cs"/>
                        </a:rPr>
                        <a:t>Limited to specific environment</a:t>
                      </a:r>
                      <a:endParaRPr lang="en-IN" sz="1700" dirty="0"/>
                    </a:p>
                  </a:txBody>
                  <a:tcPr/>
                </a:tc>
                <a:extLst>
                  <a:ext uri="{0D108BD9-81ED-4DB2-BD59-A6C34878D82A}">
                    <a16:rowId xmlns:a16="http://schemas.microsoft.com/office/drawing/2014/main" val="2845727888"/>
                  </a:ext>
                </a:extLst>
              </a:tr>
              <a:tr h="872665">
                <a:tc>
                  <a:txBody>
                    <a:bodyPr/>
                    <a:lstStyle/>
                    <a:p>
                      <a:pPr algn="l"/>
                      <a:r>
                        <a:rPr lang="en-IN" sz="1600" b="0" i="0" dirty="0">
                          <a:solidFill>
                            <a:schemeClr val="dk1"/>
                          </a:solidFill>
                          <a:effectLst/>
                          <a:latin typeface="+mn-lt"/>
                          <a:ea typeface="+mn-ea"/>
                          <a:cs typeface="+mn-cs"/>
                        </a:rPr>
                        <a:t>Sharma et al. [3]</a:t>
                      </a:r>
                      <a:endParaRPr lang="en-IN" sz="1700" dirty="0"/>
                    </a:p>
                  </a:txBody>
                  <a:tcPr/>
                </a:tc>
                <a:tc>
                  <a:txBody>
                    <a:bodyPr/>
                    <a:lstStyle/>
                    <a:p>
                      <a:pPr algn="l"/>
                      <a:r>
                        <a:rPr lang="en-IN" sz="1600" b="0" i="0" dirty="0">
                          <a:solidFill>
                            <a:schemeClr val="dk1"/>
                          </a:solidFill>
                          <a:effectLst/>
                          <a:latin typeface="+mn-lt"/>
                          <a:ea typeface="+mn-ea"/>
                          <a:cs typeface="+mn-cs"/>
                        </a:rPr>
                        <a:t>Facial Stress Detection (2024)</a:t>
                      </a:r>
                      <a:endParaRPr lang="en-IN" sz="1700" dirty="0"/>
                    </a:p>
                  </a:txBody>
                  <a:tcPr/>
                </a:tc>
                <a:tc>
                  <a:txBody>
                    <a:bodyPr/>
                    <a:lstStyle/>
                    <a:p>
                      <a:pPr algn="l"/>
                      <a:r>
                        <a:rPr lang="en-IN" sz="1600" b="0" i="0" dirty="0">
                          <a:solidFill>
                            <a:schemeClr val="dk1"/>
                          </a:solidFill>
                          <a:effectLst/>
                          <a:latin typeface="+mn-lt"/>
                          <a:ea typeface="+mn-ea"/>
                          <a:cs typeface="+mn-cs"/>
                        </a:rPr>
                        <a:t>CNN</a:t>
                      </a:r>
                      <a:endParaRPr lang="en-IN" sz="1700" dirty="0"/>
                    </a:p>
                  </a:txBody>
                  <a:tcPr/>
                </a:tc>
                <a:tc>
                  <a:txBody>
                    <a:bodyPr/>
                    <a:lstStyle/>
                    <a:p>
                      <a:pPr algn="l"/>
                      <a:r>
                        <a:rPr lang="en-US" sz="1600" b="0" i="0" dirty="0">
                          <a:solidFill>
                            <a:schemeClr val="dk1"/>
                          </a:solidFill>
                          <a:effectLst/>
                          <a:latin typeface="+mn-lt"/>
                          <a:ea typeface="+mn-ea"/>
                          <a:cs typeface="+mn-cs"/>
                        </a:rPr>
                        <a:t>Detected stress using facial expressions only</a:t>
                      </a:r>
                      <a:endParaRPr lang="en-IN" sz="1700" dirty="0"/>
                    </a:p>
                  </a:txBody>
                  <a:tcPr/>
                </a:tc>
                <a:tc>
                  <a:txBody>
                    <a:bodyPr/>
                    <a:lstStyle/>
                    <a:p>
                      <a:pPr algn="l"/>
                      <a:r>
                        <a:rPr lang="en-US" sz="1600" b="0" i="0" dirty="0">
                          <a:solidFill>
                            <a:schemeClr val="dk1"/>
                          </a:solidFill>
                          <a:effectLst/>
                          <a:latin typeface="+mn-lt"/>
                          <a:ea typeface="+mn-ea"/>
                          <a:cs typeface="+mn-cs"/>
                        </a:rPr>
                        <a:t>Easy to implement, no extra hardware</a:t>
                      </a:r>
                      <a:endParaRPr lang="en-IN" sz="1700" dirty="0"/>
                    </a:p>
                  </a:txBody>
                  <a:tcPr/>
                </a:tc>
                <a:tc>
                  <a:txBody>
                    <a:bodyPr/>
                    <a:lstStyle/>
                    <a:p>
                      <a:pPr algn="l"/>
                      <a:r>
                        <a:rPr lang="en-US" sz="1600" b="0" i="0" dirty="0">
                          <a:solidFill>
                            <a:schemeClr val="dk1"/>
                          </a:solidFill>
                          <a:effectLst/>
                          <a:latin typeface="+mn-lt"/>
                          <a:ea typeface="+mn-ea"/>
                          <a:cs typeface="+mn-cs"/>
                        </a:rPr>
                        <a:t>Sensitive to lighting and face angle</a:t>
                      </a:r>
                      <a:endParaRPr lang="en-IN" sz="1700" dirty="0"/>
                    </a:p>
                  </a:txBody>
                  <a:tcPr/>
                </a:tc>
                <a:extLst>
                  <a:ext uri="{0D108BD9-81ED-4DB2-BD59-A6C34878D82A}">
                    <a16:rowId xmlns:a16="http://schemas.microsoft.com/office/drawing/2014/main" val="660268930"/>
                  </a:ext>
                </a:extLst>
              </a:tr>
              <a:tr h="1108535">
                <a:tc>
                  <a:txBody>
                    <a:bodyPr/>
                    <a:lstStyle/>
                    <a:p>
                      <a:pPr algn="l"/>
                      <a:r>
                        <a:rPr lang="en-IN" sz="1600" b="0" i="0" dirty="0">
                          <a:solidFill>
                            <a:schemeClr val="dk1"/>
                          </a:solidFill>
                          <a:effectLst/>
                          <a:latin typeface="+mn-lt"/>
                          <a:ea typeface="+mn-ea"/>
                          <a:cs typeface="+mn-cs"/>
                        </a:rPr>
                        <a:t>Wang et al. [4]</a:t>
                      </a:r>
                      <a:endParaRPr lang="en-IN" sz="1700" dirty="0"/>
                    </a:p>
                  </a:txBody>
                  <a:tcPr/>
                </a:tc>
                <a:tc>
                  <a:txBody>
                    <a:bodyPr/>
                    <a:lstStyle/>
                    <a:p>
                      <a:pPr algn="l"/>
                      <a:r>
                        <a:rPr lang="en-IN" sz="1600" b="0" i="0" dirty="0">
                          <a:solidFill>
                            <a:schemeClr val="dk1"/>
                          </a:solidFill>
                          <a:effectLst/>
                          <a:latin typeface="+mn-lt"/>
                          <a:ea typeface="+mn-ea"/>
                          <a:cs typeface="+mn-cs"/>
                        </a:rPr>
                        <a:t>Stress via FER (2024)</a:t>
                      </a:r>
                      <a:endParaRPr lang="en-IN" sz="1700" dirty="0"/>
                    </a:p>
                  </a:txBody>
                  <a:tcPr/>
                </a:tc>
                <a:tc>
                  <a:txBody>
                    <a:bodyPr/>
                    <a:lstStyle/>
                    <a:p>
                      <a:pPr algn="l"/>
                      <a:r>
                        <a:rPr lang="en-IN" sz="1600" b="0" i="0" dirty="0">
                          <a:solidFill>
                            <a:schemeClr val="dk1"/>
                          </a:solidFill>
                          <a:effectLst/>
                          <a:latin typeface="+mn-lt"/>
                          <a:ea typeface="+mn-ea"/>
                          <a:cs typeface="+mn-cs"/>
                        </a:rPr>
                        <a:t>Deep Learning (CNN)</a:t>
                      </a:r>
                      <a:endParaRPr lang="en-IN" sz="1700" dirty="0"/>
                    </a:p>
                  </a:txBody>
                  <a:tcPr/>
                </a:tc>
                <a:tc>
                  <a:txBody>
                    <a:bodyPr/>
                    <a:lstStyle/>
                    <a:p>
                      <a:pPr algn="l"/>
                      <a:r>
                        <a:rPr lang="en-US" sz="1600" b="0" i="0" dirty="0">
                          <a:solidFill>
                            <a:schemeClr val="dk1"/>
                          </a:solidFill>
                          <a:effectLst/>
                          <a:latin typeface="+mn-lt"/>
                          <a:ea typeface="+mn-ea"/>
                          <a:cs typeface="+mn-cs"/>
                        </a:rPr>
                        <a:t>Mapped facial emotions to stress levels</a:t>
                      </a:r>
                      <a:endParaRPr lang="en-IN" sz="1700" dirty="0"/>
                    </a:p>
                  </a:txBody>
                  <a:tcPr/>
                </a:tc>
                <a:tc>
                  <a:txBody>
                    <a:bodyPr/>
                    <a:lstStyle/>
                    <a:p>
                      <a:pPr algn="l"/>
                      <a:r>
                        <a:rPr lang="en-IN" sz="1600" b="0" i="0" dirty="0">
                          <a:solidFill>
                            <a:schemeClr val="dk1"/>
                          </a:solidFill>
                          <a:effectLst/>
                          <a:latin typeface="+mn-lt"/>
                          <a:ea typeface="+mn-ea"/>
                          <a:cs typeface="+mn-cs"/>
                        </a:rPr>
                        <a:t>Good classification accuracy</a:t>
                      </a:r>
                      <a:endParaRPr lang="en-IN" sz="1700" dirty="0"/>
                    </a:p>
                  </a:txBody>
                  <a:tcPr/>
                </a:tc>
                <a:tc>
                  <a:txBody>
                    <a:bodyPr/>
                    <a:lstStyle/>
                    <a:p>
                      <a:pPr algn="l"/>
                      <a:r>
                        <a:rPr lang="en-US" sz="1600" b="0" i="0" dirty="0">
                          <a:solidFill>
                            <a:schemeClr val="dk1"/>
                          </a:solidFill>
                          <a:effectLst/>
                          <a:latin typeface="+mn-lt"/>
                          <a:ea typeface="+mn-ea"/>
                          <a:cs typeface="+mn-cs"/>
                        </a:rPr>
                        <a:t>Emotions may not always indicate stress</a:t>
                      </a:r>
                      <a:endParaRPr lang="en-IN" sz="1700" dirty="0"/>
                    </a:p>
                  </a:txBody>
                  <a:tcPr/>
                </a:tc>
                <a:extLst>
                  <a:ext uri="{0D108BD9-81ED-4DB2-BD59-A6C34878D82A}">
                    <a16:rowId xmlns:a16="http://schemas.microsoft.com/office/drawing/2014/main" val="72322287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A3928-7D85-A40D-BE57-92E3CC71F9D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83925A-9679-BE98-A7E7-97FA23C247A9}"/>
              </a:ext>
            </a:extLst>
          </p:cNvPr>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graphicFrame>
        <p:nvGraphicFramePr>
          <p:cNvPr id="3" name="Table 2">
            <a:extLst>
              <a:ext uri="{FF2B5EF4-FFF2-40B4-BE49-F238E27FC236}">
                <a16:creationId xmlns:a16="http://schemas.microsoft.com/office/drawing/2014/main" id="{4889DFCB-5F00-ACE2-6B26-07F88ECDEB18}"/>
              </a:ext>
            </a:extLst>
          </p:cNvPr>
          <p:cNvGraphicFramePr>
            <a:graphicFrameLocks noGrp="1"/>
          </p:cNvGraphicFramePr>
          <p:nvPr>
            <p:extLst>
              <p:ext uri="{D42A27DB-BD31-4B8C-83A1-F6EECF244321}">
                <p14:modId xmlns:p14="http://schemas.microsoft.com/office/powerpoint/2010/main" val="570077059"/>
              </p:ext>
            </p:extLst>
          </p:nvPr>
        </p:nvGraphicFramePr>
        <p:xfrm>
          <a:off x="228347" y="914400"/>
          <a:ext cx="8687306" cy="5249899"/>
        </p:xfrm>
        <a:graphic>
          <a:graphicData uri="http://schemas.openxmlformats.org/drawingml/2006/table">
            <a:tbl>
              <a:tblPr firstRow="1" bandRow="1">
                <a:tableStyleId>{073A0DAA-6AF3-43AB-8588-CEC1D06C72B9}</a:tableStyleId>
              </a:tblPr>
              <a:tblGrid>
                <a:gridCol w="926788">
                  <a:extLst>
                    <a:ext uri="{9D8B030D-6E8A-4147-A177-3AD203B41FA5}">
                      <a16:colId xmlns:a16="http://schemas.microsoft.com/office/drawing/2014/main" val="3550556875"/>
                    </a:ext>
                  </a:extLst>
                </a:gridCol>
                <a:gridCol w="1566928">
                  <a:extLst>
                    <a:ext uri="{9D8B030D-6E8A-4147-A177-3AD203B41FA5}">
                      <a16:colId xmlns:a16="http://schemas.microsoft.com/office/drawing/2014/main" val="3447862875"/>
                    </a:ext>
                  </a:extLst>
                </a:gridCol>
                <a:gridCol w="1210216">
                  <a:extLst>
                    <a:ext uri="{9D8B030D-6E8A-4147-A177-3AD203B41FA5}">
                      <a16:colId xmlns:a16="http://schemas.microsoft.com/office/drawing/2014/main" val="4285694833"/>
                    </a:ext>
                  </a:extLst>
                </a:gridCol>
                <a:gridCol w="2166462">
                  <a:extLst>
                    <a:ext uri="{9D8B030D-6E8A-4147-A177-3AD203B41FA5}">
                      <a16:colId xmlns:a16="http://schemas.microsoft.com/office/drawing/2014/main" val="1957140032"/>
                    </a:ext>
                  </a:extLst>
                </a:gridCol>
                <a:gridCol w="1547473">
                  <a:extLst>
                    <a:ext uri="{9D8B030D-6E8A-4147-A177-3AD203B41FA5}">
                      <a16:colId xmlns:a16="http://schemas.microsoft.com/office/drawing/2014/main" val="4145089674"/>
                    </a:ext>
                  </a:extLst>
                </a:gridCol>
                <a:gridCol w="1269439">
                  <a:extLst>
                    <a:ext uri="{9D8B030D-6E8A-4147-A177-3AD203B41FA5}">
                      <a16:colId xmlns:a16="http://schemas.microsoft.com/office/drawing/2014/main" val="4229431768"/>
                    </a:ext>
                  </a:extLst>
                </a:gridCol>
              </a:tblGrid>
              <a:tr h="637353">
                <a:tc>
                  <a:txBody>
                    <a:bodyPr/>
                    <a:lstStyle/>
                    <a:p>
                      <a:pPr algn="l"/>
                      <a:r>
                        <a:rPr lang="en-US" sz="1700" dirty="0"/>
                        <a:t>Authors</a:t>
                      </a:r>
                      <a:br>
                        <a:rPr lang="en-US" sz="1700" dirty="0"/>
                      </a:br>
                      <a:r>
                        <a:rPr lang="en-US" sz="1700" dirty="0"/>
                        <a:t>[Ref.]</a:t>
                      </a:r>
                      <a:endParaRPr lang="en-IN" sz="1700" dirty="0"/>
                    </a:p>
                  </a:txBody>
                  <a:tcPr/>
                </a:tc>
                <a:tc>
                  <a:txBody>
                    <a:bodyPr/>
                    <a:lstStyle/>
                    <a:p>
                      <a:pPr algn="l"/>
                      <a:r>
                        <a:rPr lang="en-US" sz="1700" dirty="0"/>
                        <a:t>Title/Year</a:t>
                      </a:r>
                      <a:endParaRPr lang="en-IN" sz="1700" dirty="0"/>
                    </a:p>
                  </a:txBody>
                  <a:tcPr/>
                </a:tc>
                <a:tc>
                  <a:txBody>
                    <a:bodyPr/>
                    <a:lstStyle/>
                    <a:p>
                      <a:pPr algn="l"/>
                      <a:r>
                        <a:rPr lang="en-US" sz="1700" dirty="0"/>
                        <a:t>Method</a:t>
                      </a:r>
                      <a:br>
                        <a:rPr lang="en-US" sz="1700" dirty="0"/>
                      </a:br>
                      <a:r>
                        <a:rPr lang="en-US" sz="1700" dirty="0"/>
                        <a:t>(Approach)</a:t>
                      </a:r>
                      <a:endParaRPr lang="en-IN" sz="1700" dirty="0"/>
                    </a:p>
                  </a:txBody>
                  <a:tcPr/>
                </a:tc>
                <a:tc>
                  <a:txBody>
                    <a:bodyPr/>
                    <a:lstStyle/>
                    <a:p>
                      <a:pPr algn="l"/>
                      <a:r>
                        <a:rPr lang="en-US" sz="1700" dirty="0"/>
                        <a:t>Work Done</a:t>
                      </a:r>
                      <a:endParaRPr lang="en-IN" sz="1700" dirty="0"/>
                    </a:p>
                  </a:txBody>
                  <a:tcPr/>
                </a:tc>
                <a:tc>
                  <a:txBody>
                    <a:bodyPr/>
                    <a:lstStyle/>
                    <a:p>
                      <a:pPr algn="l"/>
                      <a:r>
                        <a:rPr lang="en-US" sz="1700" dirty="0"/>
                        <a:t>Advantages</a:t>
                      </a:r>
                      <a:endParaRPr lang="en-IN" sz="1700" dirty="0"/>
                    </a:p>
                  </a:txBody>
                  <a:tcPr/>
                </a:tc>
                <a:tc>
                  <a:txBody>
                    <a:bodyPr/>
                    <a:lstStyle/>
                    <a:p>
                      <a:pPr algn="l"/>
                      <a:r>
                        <a:rPr lang="en-US" sz="1700" dirty="0"/>
                        <a:t>Limitations</a:t>
                      </a:r>
                      <a:endParaRPr lang="en-IN" sz="1700" dirty="0"/>
                    </a:p>
                  </a:txBody>
                  <a:tcPr/>
                </a:tc>
                <a:extLst>
                  <a:ext uri="{0D108BD9-81ED-4DB2-BD59-A6C34878D82A}">
                    <a16:rowId xmlns:a16="http://schemas.microsoft.com/office/drawing/2014/main" val="2896938257"/>
                  </a:ext>
                </a:extLst>
              </a:tr>
              <a:tr h="1115367">
                <a:tc>
                  <a:txBody>
                    <a:bodyPr/>
                    <a:lstStyle/>
                    <a:p>
                      <a:pPr algn="l"/>
                      <a:r>
                        <a:rPr lang="en-IN" sz="1600" b="0" i="0" dirty="0">
                          <a:solidFill>
                            <a:schemeClr val="dk1"/>
                          </a:solidFill>
                          <a:effectLst/>
                          <a:latin typeface="+mn-lt"/>
                          <a:ea typeface="+mn-ea"/>
                          <a:cs typeface="+mn-cs"/>
                        </a:rPr>
                        <a:t>Patel et al. [5]</a:t>
                      </a:r>
                      <a:endParaRPr lang="en-IN" sz="1700" dirty="0"/>
                    </a:p>
                  </a:txBody>
                  <a:tcPr/>
                </a:tc>
                <a:tc>
                  <a:txBody>
                    <a:bodyPr/>
                    <a:lstStyle/>
                    <a:p>
                      <a:pPr algn="l"/>
                      <a:r>
                        <a:rPr lang="en-IN" sz="1600" b="0" i="0" dirty="0">
                          <a:solidFill>
                            <a:schemeClr val="dk1"/>
                          </a:solidFill>
                          <a:effectLst/>
                          <a:latin typeface="+mn-lt"/>
                          <a:ea typeface="+mn-ea"/>
                          <a:cs typeface="+mn-cs"/>
                        </a:rPr>
                        <a:t>Compound Expressions (2024)</a:t>
                      </a:r>
                      <a:endParaRPr lang="en-IN" sz="1700" dirty="0"/>
                    </a:p>
                  </a:txBody>
                  <a:tcPr/>
                </a:tc>
                <a:tc>
                  <a:txBody>
                    <a:bodyPr/>
                    <a:lstStyle/>
                    <a:p>
                      <a:pPr algn="l"/>
                      <a:r>
                        <a:rPr lang="en-IN" sz="1600" b="0" i="0" dirty="0">
                          <a:solidFill>
                            <a:schemeClr val="dk1"/>
                          </a:solidFill>
                          <a:effectLst/>
                          <a:latin typeface="+mn-lt"/>
                          <a:ea typeface="+mn-ea"/>
                          <a:cs typeface="+mn-cs"/>
                        </a:rPr>
                        <a:t>CNN</a:t>
                      </a:r>
                      <a:endParaRPr lang="en-IN" sz="1700" dirty="0"/>
                    </a:p>
                  </a:txBody>
                  <a:tcPr/>
                </a:tc>
                <a:tc>
                  <a:txBody>
                    <a:bodyPr/>
                    <a:lstStyle/>
                    <a:p>
                      <a:pPr algn="l"/>
                      <a:r>
                        <a:rPr lang="en-US" sz="1600" b="0" i="0" dirty="0">
                          <a:solidFill>
                            <a:schemeClr val="dk1"/>
                          </a:solidFill>
                          <a:effectLst/>
                          <a:latin typeface="+mn-lt"/>
                          <a:ea typeface="+mn-ea"/>
                          <a:cs typeface="+mn-cs"/>
                        </a:rPr>
                        <a:t>Used complex facial expression combinations for detection</a:t>
                      </a:r>
                      <a:endParaRPr lang="en-IN" sz="1700" dirty="0"/>
                    </a:p>
                  </a:txBody>
                  <a:tcPr/>
                </a:tc>
                <a:tc>
                  <a:txBody>
                    <a:bodyPr/>
                    <a:lstStyle/>
                    <a:p>
                      <a:pPr algn="l"/>
                      <a:r>
                        <a:rPr lang="en-IN" sz="1600" b="0" i="0" dirty="0">
                          <a:solidFill>
                            <a:schemeClr val="dk1"/>
                          </a:solidFill>
                          <a:effectLst/>
                          <a:latin typeface="+mn-lt"/>
                          <a:ea typeface="+mn-ea"/>
                          <a:cs typeface="+mn-cs"/>
                        </a:rPr>
                        <a:t>Captures subtle emotional patterns</a:t>
                      </a:r>
                      <a:endParaRPr lang="en-IN" sz="1700" dirty="0"/>
                    </a:p>
                  </a:txBody>
                  <a:tcPr/>
                </a:tc>
                <a:tc>
                  <a:txBody>
                    <a:bodyPr/>
                    <a:lstStyle/>
                    <a:p>
                      <a:pPr algn="l"/>
                      <a:r>
                        <a:rPr lang="en-IN" sz="1600" b="0" i="0" dirty="0">
                          <a:solidFill>
                            <a:schemeClr val="dk1"/>
                          </a:solidFill>
                          <a:effectLst/>
                          <a:latin typeface="+mn-lt"/>
                          <a:ea typeface="+mn-ea"/>
                          <a:cs typeface="+mn-cs"/>
                        </a:rPr>
                        <a:t>Computationally expensive</a:t>
                      </a:r>
                      <a:endParaRPr lang="en-IN" sz="1700" dirty="0"/>
                    </a:p>
                  </a:txBody>
                  <a:tcPr/>
                </a:tc>
                <a:extLst>
                  <a:ext uri="{0D108BD9-81ED-4DB2-BD59-A6C34878D82A}">
                    <a16:rowId xmlns:a16="http://schemas.microsoft.com/office/drawing/2014/main" val="582358373"/>
                  </a:ext>
                </a:extLst>
              </a:tr>
              <a:tr h="1115367">
                <a:tc>
                  <a:txBody>
                    <a:bodyPr/>
                    <a:lstStyle/>
                    <a:p>
                      <a:pPr algn="l"/>
                      <a:r>
                        <a:rPr lang="en-IN" sz="1600" b="0" i="0" dirty="0">
                          <a:solidFill>
                            <a:schemeClr val="dk1"/>
                          </a:solidFill>
                          <a:effectLst/>
                          <a:latin typeface="+mn-lt"/>
                          <a:ea typeface="+mn-ea"/>
                          <a:cs typeface="+mn-cs"/>
                        </a:rPr>
                        <a:t>Kim et al. [6]</a:t>
                      </a:r>
                      <a:endParaRPr lang="en-IN" sz="1700" dirty="0"/>
                    </a:p>
                  </a:txBody>
                  <a:tcPr/>
                </a:tc>
                <a:tc>
                  <a:txBody>
                    <a:bodyPr/>
                    <a:lstStyle/>
                    <a:p>
                      <a:pPr algn="l"/>
                      <a:r>
                        <a:rPr lang="en-IN" sz="1600" b="0" i="0" dirty="0">
                          <a:solidFill>
                            <a:schemeClr val="dk1"/>
                          </a:solidFill>
                          <a:effectLst/>
                          <a:latin typeface="+mn-lt"/>
                          <a:ea typeface="+mn-ea"/>
                          <a:cs typeface="+mn-cs"/>
                        </a:rPr>
                        <a:t>Real-time Stress (2025)</a:t>
                      </a:r>
                      <a:endParaRPr lang="en-IN" sz="1700" dirty="0"/>
                    </a:p>
                  </a:txBody>
                  <a:tcPr/>
                </a:tc>
                <a:tc>
                  <a:txBody>
                    <a:bodyPr/>
                    <a:lstStyle/>
                    <a:p>
                      <a:pPr algn="l"/>
                      <a:r>
                        <a:rPr lang="en-IN" sz="1600" b="0" i="0" dirty="0">
                          <a:solidFill>
                            <a:schemeClr val="dk1"/>
                          </a:solidFill>
                          <a:effectLst/>
                          <a:latin typeface="+mn-lt"/>
                          <a:ea typeface="+mn-ea"/>
                          <a:cs typeface="+mn-cs"/>
                        </a:rPr>
                        <a:t>CNN + Real-time Processing</a:t>
                      </a:r>
                      <a:endParaRPr lang="en-IN" sz="1700" dirty="0"/>
                    </a:p>
                  </a:txBody>
                  <a:tcPr/>
                </a:tc>
                <a:tc>
                  <a:txBody>
                    <a:bodyPr/>
                    <a:lstStyle/>
                    <a:p>
                      <a:pPr algn="l"/>
                      <a:r>
                        <a:rPr lang="en-US" sz="1600" b="0" i="0" dirty="0">
                          <a:solidFill>
                            <a:schemeClr val="dk1"/>
                          </a:solidFill>
                          <a:effectLst/>
                          <a:latin typeface="+mn-lt"/>
                          <a:ea typeface="+mn-ea"/>
                          <a:cs typeface="+mn-cs"/>
                        </a:rPr>
                        <a:t>Developed system for live stress detection via camera</a:t>
                      </a:r>
                      <a:endParaRPr lang="en-IN" sz="1700" dirty="0"/>
                    </a:p>
                  </a:txBody>
                  <a:tcPr/>
                </a:tc>
                <a:tc>
                  <a:txBody>
                    <a:bodyPr/>
                    <a:lstStyle/>
                    <a:p>
                      <a:pPr algn="l"/>
                      <a:r>
                        <a:rPr lang="en-IN" sz="1600" b="0" i="0" dirty="0">
                          <a:solidFill>
                            <a:schemeClr val="dk1"/>
                          </a:solidFill>
                          <a:effectLst/>
                          <a:latin typeface="+mn-lt"/>
                          <a:ea typeface="+mn-ea"/>
                          <a:cs typeface="+mn-cs"/>
                        </a:rPr>
                        <a:t>Instant results, practical usage</a:t>
                      </a:r>
                      <a:endParaRPr lang="en-IN" sz="1700" dirty="0"/>
                    </a:p>
                  </a:txBody>
                  <a:tcPr/>
                </a:tc>
                <a:tc>
                  <a:txBody>
                    <a:bodyPr/>
                    <a:lstStyle/>
                    <a:p>
                      <a:pPr algn="l"/>
                      <a:r>
                        <a:rPr lang="en-US" sz="1600" b="0" i="0" dirty="0">
                          <a:solidFill>
                            <a:schemeClr val="dk1"/>
                          </a:solidFill>
                          <a:effectLst/>
                          <a:latin typeface="+mn-lt"/>
                          <a:ea typeface="+mn-ea"/>
                          <a:cs typeface="+mn-cs"/>
                        </a:rPr>
                        <a:t>Needs good hardware and camera quality</a:t>
                      </a:r>
                      <a:endParaRPr lang="en-IN" sz="1700" dirty="0"/>
                    </a:p>
                  </a:txBody>
                  <a:tcPr/>
                </a:tc>
                <a:extLst>
                  <a:ext uri="{0D108BD9-81ED-4DB2-BD59-A6C34878D82A}">
                    <a16:rowId xmlns:a16="http://schemas.microsoft.com/office/drawing/2014/main" val="2845727888"/>
                  </a:ext>
                </a:extLst>
              </a:tr>
              <a:tr h="1186775">
                <a:tc>
                  <a:txBody>
                    <a:bodyPr/>
                    <a:lstStyle/>
                    <a:p>
                      <a:pPr algn="l"/>
                      <a:r>
                        <a:rPr lang="en-IN" sz="1600" b="0" i="0" dirty="0">
                          <a:solidFill>
                            <a:schemeClr val="dk1"/>
                          </a:solidFill>
                          <a:effectLst/>
                          <a:latin typeface="+mn-lt"/>
                          <a:ea typeface="+mn-ea"/>
                          <a:cs typeface="+mn-cs"/>
                        </a:rPr>
                        <a:t>Hochreiter et al. [7]</a:t>
                      </a:r>
                      <a:endParaRPr lang="en-IN" sz="1700" dirty="0"/>
                    </a:p>
                  </a:txBody>
                  <a:tcPr/>
                </a:tc>
                <a:tc>
                  <a:txBody>
                    <a:bodyPr/>
                    <a:lstStyle/>
                    <a:p>
                      <a:pPr algn="l"/>
                      <a:r>
                        <a:rPr lang="en-IN" sz="1600" b="0" i="0" dirty="0">
                          <a:solidFill>
                            <a:schemeClr val="dk1"/>
                          </a:solidFill>
                          <a:effectLst/>
                          <a:latin typeface="+mn-lt"/>
                          <a:ea typeface="+mn-ea"/>
                          <a:cs typeface="+mn-cs"/>
                        </a:rPr>
                        <a:t>CNN-LSTM Model (2020)</a:t>
                      </a:r>
                      <a:endParaRPr lang="en-IN" sz="1700" dirty="0"/>
                    </a:p>
                  </a:txBody>
                  <a:tcPr/>
                </a:tc>
                <a:tc>
                  <a:txBody>
                    <a:bodyPr/>
                    <a:lstStyle/>
                    <a:p>
                      <a:pPr algn="l"/>
                      <a:r>
                        <a:rPr lang="en-IN" sz="1600" b="0" i="0" dirty="0">
                          <a:solidFill>
                            <a:schemeClr val="dk1"/>
                          </a:solidFill>
                          <a:effectLst/>
                          <a:latin typeface="+mn-lt"/>
                          <a:ea typeface="+mn-ea"/>
                          <a:cs typeface="+mn-cs"/>
                        </a:rPr>
                        <a:t>CNN + LSTM</a:t>
                      </a:r>
                      <a:endParaRPr lang="en-IN" sz="1700" dirty="0"/>
                    </a:p>
                  </a:txBody>
                  <a:tcPr/>
                </a:tc>
                <a:tc>
                  <a:txBody>
                    <a:bodyPr/>
                    <a:lstStyle/>
                    <a:p>
                      <a:pPr algn="l"/>
                      <a:r>
                        <a:rPr lang="en-US" sz="1600" b="0" i="0" dirty="0">
                          <a:solidFill>
                            <a:schemeClr val="dk1"/>
                          </a:solidFill>
                          <a:effectLst/>
                          <a:latin typeface="+mn-lt"/>
                          <a:ea typeface="+mn-ea"/>
                          <a:cs typeface="+mn-cs"/>
                        </a:rPr>
                        <a:t>Combined spatial + temporal features for emotion tracking</a:t>
                      </a:r>
                      <a:endParaRPr lang="en-IN" sz="1700" dirty="0"/>
                    </a:p>
                  </a:txBody>
                  <a:tcPr/>
                </a:tc>
                <a:tc>
                  <a:txBody>
                    <a:bodyPr/>
                    <a:lstStyle/>
                    <a:p>
                      <a:pPr algn="l"/>
                      <a:r>
                        <a:rPr lang="en-IN" sz="1600" b="0" i="0" dirty="0">
                          <a:solidFill>
                            <a:schemeClr val="dk1"/>
                          </a:solidFill>
                          <a:effectLst/>
                          <a:latin typeface="+mn-lt"/>
                          <a:ea typeface="+mn-ea"/>
                          <a:cs typeface="+mn-cs"/>
                        </a:rPr>
                        <a:t>Captures changes over time</a:t>
                      </a:r>
                      <a:endParaRPr lang="en-IN" sz="1700" dirty="0"/>
                    </a:p>
                  </a:txBody>
                  <a:tcPr/>
                </a:tc>
                <a:tc>
                  <a:txBody>
                    <a:bodyPr/>
                    <a:lstStyle/>
                    <a:p>
                      <a:pPr algn="l"/>
                      <a:r>
                        <a:rPr lang="en-IN" sz="1600" b="0" i="0" dirty="0">
                          <a:solidFill>
                            <a:schemeClr val="dk1"/>
                          </a:solidFill>
                          <a:effectLst/>
                          <a:latin typeface="+mn-lt"/>
                          <a:ea typeface="+mn-ea"/>
                          <a:cs typeface="+mn-cs"/>
                        </a:rPr>
                        <a:t>Model complexity is high</a:t>
                      </a:r>
                      <a:endParaRPr lang="en-IN" sz="1700" dirty="0"/>
                    </a:p>
                  </a:txBody>
                  <a:tcPr/>
                </a:tc>
                <a:extLst>
                  <a:ext uri="{0D108BD9-81ED-4DB2-BD59-A6C34878D82A}">
                    <a16:rowId xmlns:a16="http://schemas.microsoft.com/office/drawing/2014/main" val="660268930"/>
                  </a:ext>
                </a:extLst>
              </a:tr>
              <a:tr h="1195037">
                <a:tc>
                  <a:txBody>
                    <a:bodyPr/>
                    <a:lstStyle/>
                    <a:p>
                      <a:pPr algn="l"/>
                      <a:r>
                        <a:rPr lang="en-IN" sz="1600" b="0" i="0" dirty="0" err="1">
                          <a:solidFill>
                            <a:schemeClr val="dk1"/>
                          </a:solidFill>
                          <a:effectLst/>
                          <a:latin typeface="+mn-lt"/>
                          <a:ea typeface="+mn-ea"/>
                          <a:cs typeface="+mn-cs"/>
                        </a:rPr>
                        <a:t>Mollahosseini</a:t>
                      </a:r>
                      <a:r>
                        <a:rPr lang="en-IN" sz="1600" b="0" i="0" dirty="0">
                          <a:solidFill>
                            <a:schemeClr val="dk1"/>
                          </a:solidFill>
                          <a:effectLst/>
                          <a:latin typeface="+mn-lt"/>
                          <a:ea typeface="+mn-ea"/>
                          <a:cs typeface="+mn-cs"/>
                        </a:rPr>
                        <a:t> et al. [8]</a:t>
                      </a:r>
                      <a:endParaRPr lang="en-IN" sz="1700" dirty="0"/>
                    </a:p>
                  </a:txBody>
                  <a:tcPr/>
                </a:tc>
                <a:tc>
                  <a:txBody>
                    <a:bodyPr/>
                    <a:lstStyle/>
                    <a:p>
                      <a:pPr algn="l"/>
                      <a:r>
                        <a:rPr lang="en-IN" sz="1600" b="0" i="0" dirty="0">
                          <a:solidFill>
                            <a:schemeClr val="dk1"/>
                          </a:solidFill>
                          <a:effectLst/>
                          <a:latin typeface="+mn-lt"/>
                          <a:ea typeface="+mn-ea"/>
                          <a:cs typeface="+mn-cs"/>
                        </a:rPr>
                        <a:t>Affect Analysis (2021)</a:t>
                      </a:r>
                      <a:endParaRPr lang="en-IN" sz="1700" dirty="0"/>
                    </a:p>
                  </a:txBody>
                  <a:tcPr/>
                </a:tc>
                <a:tc>
                  <a:txBody>
                    <a:bodyPr/>
                    <a:lstStyle/>
                    <a:p>
                      <a:pPr algn="l"/>
                      <a:r>
                        <a:rPr lang="en-IN" sz="1600" b="0" i="0" dirty="0">
                          <a:solidFill>
                            <a:schemeClr val="dk1"/>
                          </a:solidFill>
                          <a:effectLst/>
                          <a:latin typeface="+mn-lt"/>
                          <a:ea typeface="+mn-ea"/>
                          <a:cs typeface="+mn-cs"/>
                        </a:rPr>
                        <a:t>Deep Learning</a:t>
                      </a:r>
                      <a:endParaRPr lang="en-IN" sz="1700" dirty="0"/>
                    </a:p>
                  </a:txBody>
                  <a:tcPr/>
                </a:tc>
                <a:tc>
                  <a:txBody>
                    <a:bodyPr/>
                    <a:lstStyle/>
                    <a:p>
                      <a:pPr algn="l"/>
                      <a:r>
                        <a:rPr lang="en-US" sz="1600" b="0" i="0" dirty="0">
                          <a:solidFill>
                            <a:schemeClr val="dk1"/>
                          </a:solidFill>
                          <a:effectLst/>
                          <a:latin typeface="+mn-lt"/>
                          <a:ea typeface="+mn-ea"/>
                          <a:cs typeface="+mn-cs"/>
                        </a:rPr>
                        <a:t>Emotion detection in real-world (uncontrolled) environments</a:t>
                      </a:r>
                      <a:endParaRPr lang="en-IN" sz="1700" dirty="0"/>
                    </a:p>
                  </a:txBody>
                  <a:tcPr/>
                </a:tc>
                <a:tc>
                  <a:txBody>
                    <a:bodyPr/>
                    <a:lstStyle/>
                    <a:p>
                      <a:pPr algn="l"/>
                      <a:r>
                        <a:rPr lang="en-IN" sz="1600" b="0" i="0" dirty="0">
                          <a:solidFill>
                            <a:schemeClr val="dk1"/>
                          </a:solidFill>
                          <a:effectLst/>
                          <a:latin typeface="+mn-lt"/>
                          <a:ea typeface="+mn-ea"/>
                          <a:cs typeface="+mn-cs"/>
                        </a:rPr>
                        <a:t>Works in real-life scenarios</a:t>
                      </a:r>
                      <a:endParaRPr lang="en-IN" sz="1700" dirty="0"/>
                    </a:p>
                  </a:txBody>
                  <a:tcPr/>
                </a:tc>
                <a:tc>
                  <a:txBody>
                    <a:bodyPr/>
                    <a:lstStyle/>
                    <a:p>
                      <a:pPr algn="l"/>
                      <a:r>
                        <a:rPr lang="en-IN" sz="1600" b="0" i="0" dirty="0">
                          <a:solidFill>
                            <a:schemeClr val="dk1"/>
                          </a:solidFill>
                          <a:effectLst/>
                          <a:latin typeface="+mn-lt"/>
                          <a:ea typeface="+mn-ea"/>
                          <a:cs typeface="+mn-cs"/>
                        </a:rPr>
                        <a:t>Noisy data reduces accuracy</a:t>
                      </a:r>
                      <a:endParaRPr lang="en-IN" sz="1700" dirty="0"/>
                    </a:p>
                  </a:txBody>
                  <a:tcPr/>
                </a:tc>
                <a:extLst>
                  <a:ext uri="{0D108BD9-81ED-4DB2-BD59-A6C34878D82A}">
                    <a16:rowId xmlns:a16="http://schemas.microsoft.com/office/drawing/2014/main" val="2408511506"/>
                  </a:ext>
                </a:extLst>
              </a:tr>
            </a:tbl>
          </a:graphicData>
        </a:graphic>
      </p:graphicFrame>
      <p:sp>
        <p:nvSpPr>
          <p:cNvPr id="9" name="object 2">
            <a:extLst>
              <a:ext uri="{FF2B5EF4-FFF2-40B4-BE49-F238E27FC236}">
                <a16:creationId xmlns:a16="http://schemas.microsoft.com/office/drawing/2014/main" id="{85394590-7F46-FFF3-CFC2-9CA2FD3CD97D}"/>
              </a:ext>
            </a:extLst>
          </p:cNvPr>
          <p:cNvSpPr txBox="1">
            <a:spLocks/>
          </p:cNvSpPr>
          <p:nvPr/>
        </p:nvSpPr>
        <p:spPr>
          <a:xfrm>
            <a:off x="210820" y="174312"/>
            <a:ext cx="4970780" cy="382156"/>
          </a:xfrm>
          <a:prstGeom prst="rect">
            <a:avLst/>
          </a:prstGeom>
        </p:spPr>
        <p:txBody>
          <a:bodyPr vert="horz" wrap="square" lIns="0" tIns="12700" rIns="0" bIns="0" rtlCol="0">
            <a:spAutoFit/>
          </a:bodyPr>
          <a:lstStyle>
            <a:lvl1pPr>
              <a:defRPr sz="2000" b="1" i="0">
                <a:solidFill>
                  <a:schemeClr val="tx1"/>
                </a:solidFill>
                <a:latin typeface="Arial"/>
                <a:ea typeface="+mj-ea"/>
                <a:cs typeface="Arial"/>
              </a:defRPr>
            </a:lvl1pPr>
          </a:lstStyle>
          <a:p>
            <a:pPr marL="12700">
              <a:spcBef>
                <a:spcPts val="100"/>
              </a:spcBef>
            </a:pPr>
            <a:r>
              <a:rPr lang="en-IN" sz="2400" kern="0" spc="-5" dirty="0">
                <a:solidFill>
                  <a:srgbClr val="FFFFFF"/>
                </a:solidFill>
              </a:rPr>
              <a:t>Literature</a:t>
            </a:r>
            <a:r>
              <a:rPr lang="en-IN" sz="2400" kern="0" spc="-80" dirty="0">
                <a:solidFill>
                  <a:srgbClr val="FFFFFF"/>
                </a:solidFill>
              </a:rPr>
              <a:t> </a:t>
            </a:r>
            <a:r>
              <a:rPr lang="en-IN" sz="2400" kern="0" spc="-5" dirty="0">
                <a:solidFill>
                  <a:srgbClr val="FFFFFF"/>
                </a:solidFill>
              </a:rPr>
              <a:t>Review(2)</a:t>
            </a:r>
            <a:endParaRPr lang="en-IN" sz="2400" kern="0" dirty="0"/>
          </a:p>
        </p:txBody>
      </p:sp>
    </p:spTree>
    <p:extLst>
      <p:ext uri="{BB962C8B-B14F-4D97-AF65-F5344CB8AC3E}">
        <p14:creationId xmlns:p14="http://schemas.microsoft.com/office/powerpoint/2010/main" val="1157270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AB3C8-B922-2D73-0181-F7FB4B88194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886177F-9AD2-3FA0-5520-5A458D37E7B9}"/>
              </a:ext>
            </a:extLst>
          </p:cNvPr>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graphicFrame>
        <p:nvGraphicFramePr>
          <p:cNvPr id="6" name="Table 5">
            <a:extLst>
              <a:ext uri="{FF2B5EF4-FFF2-40B4-BE49-F238E27FC236}">
                <a16:creationId xmlns:a16="http://schemas.microsoft.com/office/drawing/2014/main" id="{D1EC26DF-830B-AA2C-44AD-92211AEC9D12}"/>
              </a:ext>
            </a:extLst>
          </p:cNvPr>
          <p:cNvGraphicFramePr>
            <a:graphicFrameLocks noGrp="1"/>
          </p:cNvGraphicFramePr>
          <p:nvPr>
            <p:extLst>
              <p:ext uri="{D42A27DB-BD31-4B8C-83A1-F6EECF244321}">
                <p14:modId xmlns:p14="http://schemas.microsoft.com/office/powerpoint/2010/main" val="3460157135"/>
              </p:ext>
            </p:extLst>
          </p:nvPr>
        </p:nvGraphicFramePr>
        <p:xfrm>
          <a:off x="210820" y="990600"/>
          <a:ext cx="8758426" cy="5029200"/>
        </p:xfrm>
        <a:graphic>
          <a:graphicData uri="http://schemas.openxmlformats.org/drawingml/2006/table">
            <a:tbl>
              <a:tblPr firstRow="1" bandRow="1">
                <a:tableStyleId>{073A0DAA-6AF3-43AB-8588-CEC1D06C72B9}</a:tableStyleId>
              </a:tblPr>
              <a:tblGrid>
                <a:gridCol w="997137">
                  <a:extLst>
                    <a:ext uri="{9D8B030D-6E8A-4147-A177-3AD203B41FA5}">
                      <a16:colId xmlns:a16="http://schemas.microsoft.com/office/drawing/2014/main" val="369930852"/>
                    </a:ext>
                  </a:extLst>
                </a:gridCol>
                <a:gridCol w="1564212">
                  <a:extLst>
                    <a:ext uri="{9D8B030D-6E8A-4147-A177-3AD203B41FA5}">
                      <a16:colId xmlns:a16="http://schemas.microsoft.com/office/drawing/2014/main" val="1628443408"/>
                    </a:ext>
                  </a:extLst>
                </a:gridCol>
                <a:gridCol w="1310219">
                  <a:extLst>
                    <a:ext uri="{9D8B030D-6E8A-4147-A177-3AD203B41FA5}">
                      <a16:colId xmlns:a16="http://schemas.microsoft.com/office/drawing/2014/main" val="1508983376"/>
                    </a:ext>
                  </a:extLst>
                </a:gridCol>
                <a:gridCol w="2080935">
                  <a:extLst>
                    <a:ext uri="{9D8B030D-6E8A-4147-A177-3AD203B41FA5}">
                      <a16:colId xmlns:a16="http://schemas.microsoft.com/office/drawing/2014/main" val="2490777517"/>
                    </a:ext>
                  </a:extLst>
                </a:gridCol>
                <a:gridCol w="1464362">
                  <a:extLst>
                    <a:ext uri="{9D8B030D-6E8A-4147-A177-3AD203B41FA5}">
                      <a16:colId xmlns:a16="http://schemas.microsoft.com/office/drawing/2014/main" val="3708980946"/>
                    </a:ext>
                  </a:extLst>
                </a:gridCol>
                <a:gridCol w="1341561">
                  <a:extLst>
                    <a:ext uri="{9D8B030D-6E8A-4147-A177-3AD203B41FA5}">
                      <a16:colId xmlns:a16="http://schemas.microsoft.com/office/drawing/2014/main" val="2385766465"/>
                    </a:ext>
                  </a:extLst>
                </a:gridCol>
              </a:tblGrid>
              <a:tr h="739589">
                <a:tc>
                  <a:txBody>
                    <a:bodyPr/>
                    <a:lstStyle/>
                    <a:p>
                      <a:pPr algn="l"/>
                      <a:r>
                        <a:rPr lang="en-US" sz="1700" dirty="0"/>
                        <a:t>Authors</a:t>
                      </a:r>
                      <a:endParaRPr lang="en-IN" sz="1700" dirty="0"/>
                    </a:p>
                  </a:txBody>
                  <a:tcPr/>
                </a:tc>
                <a:tc>
                  <a:txBody>
                    <a:bodyPr/>
                    <a:lstStyle/>
                    <a:p>
                      <a:pPr algn="l"/>
                      <a:r>
                        <a:rPr lang="en-US" sz="1700" dirty="0"/>
                        <a:t>Title/Year</a:t>
                      </a:r>
                      <a:endParaRPr lang="en-IN" sz="1700" dirty="0"/>
                    </a:p>
                  </a:txBody>
                  <a:tcPr/>
                </a:tc>
                <a:tc>
                  <a:txBody>
                    <a:bodyPr/>
                    <a:lstStyle/>
                    <a:p>
                      <a:pPr algn="l"/>
                      <a:r>
                        <a:rPr lang="en-US" sz="1700" dirty="0"/>
                        <a:t>Method</a:t>
                      </a:r>
                      <a:br>
                        <a:rPr lang="en-US" sz="1700" dirty="0"/>
                      </a:br>
                      <a:r>
                        <a:rPr lang="en-US" sz="1700" dirty="0"/>
                        <a:t>(Approach)</a:t>
                      </a:r>
                      <a:endParaRPr lang="en-IN" sz="1700" dirty="0"/>
                    </a:p>
                  </a:txBody>
                  <a:tcPr/>
                </a:tc>
                <a:tc>
                  <a:txBody>
                    <a:bodyPr/>
                    <a:lstStyle/>
                    <a:p>
                      <a:pPr algn="l"/>
                      <a:r>
                        <a:rPr lang="en-US" sz="1700" dirty="0"/>
                        <a:t>Work Done</a:t>
                      </a:r>
                      <a:endParaRPr lang="en-IN" sz="1700" dirty="0"/>
                    </a:p>
                  </a:txBody>
                  <a:tcPr/>
                </a:tc>
                <a:tc>
                  <a:txBody>
                    <a:bodyPr/>
                    <a:lstStyle/>
                    <a:p>
                      <a:pPr algn="l"/>
                      <a:r>
                        <a:rPr lang="en-US" sz="1700" dirty="0"/>
                        <a:t>Advantages</a:t>
                      </a:r>
                      <a:endParaRPr lang="en-IN" sz="1700" dirty="0"/>
                    </a:p>
                  </a:txBody>
                  <a:tcPr/>
                </a:tc>
                <a:tc>
                  <a:txBody>
                    <a:bodyPr/>
                    <a:lstStyle/>
                    <a:p>
                      <a:pPr algn="l"/>
                      <a:r>
                        <a:rPr lang="en-US" sz="1700" dirty="0"/>
                        <a:t>Limitations</a:t>
                      </a:r>
                      <a:endParaRPr lang="en-IN" sz="1700" dirty="0"/>
                    </a:p>
                  </a:txBody>
                  <a:tcPr/>
                </a:tc>
                <a:extLst>
                  <a:ext uri="{0D108BD9-81ED-4DB2-BD59-A6C34878D82A}">
                    <a16:rowId xmlns:a16="http://schemas.microsoft.com/office/drawing/2014/main" val="3537693321"/>
                  </a:ext>
                </a:extLst>
              </a:tr>
              <a:tr h="998444">
                <a:tc>
                  <a:txBody>
                    <a:bodyPr/>
                    <a:lstStyle/>
                    <a:p>
                      <a:pPr algn="l"/>
                      <a:r>
                        <a:rPr lang="en-IN" sz="1600" b="0" i="0" dirty="0">
                          <a:solidFill>
                            <a:schemeClr val="dk1"/>
                          </a:solidFill>
                          <a:effectLst/>
                          <a:latin typeface="+mn-lt"/>
                          <a:ea typeface="+mn-ea"/>
                          <a:cs typeface="+mn-cs"/>
                        </a:rPr>
                        <a:t>Saini et al. [9]</a:t>
                      </a:r>
                      <a:endParaRPr lang="en-IN" sz="1700" dirty="0"/>
                    </a:p>
                  </a:txBody>
                  <a:tcPr/>
                </a:tc>
                <a:tc>
                  <a:txBody>
                    <a:bodyPr/>
                    <a:lstStyle/>
                    <a:p>
                      <a:pPr algn="l"/>
                      <a:r>
                        <a:rPr lang="en-IN" sz="1600" b="0" i="0" dirty="0">
                          <a:solidFill>
                            <a:schemeClr val="dk1"/>
                          </a:solidFill>
                          <a:effectLst/>
                          <a:latin typeface="+mn-lt"/>
                          <a:ea typeface="+mn-ea"/>
                          <a:cs typeface="+mn-cs"/>
                        </a:rPr>
                        <a:t>ML Stress Detection (2024)</a:t>
                      </a:r>
                      <a:endParaRPr lang="en-IN" sz="1700" dirty="0"/>
                    </a:p>
                  </a:txBody>
                  <a:tcPr/>
                </a:tc>
                <a:tc>
                  <a:txBody>
                    <a:bodyPr/>
                    <a:lstStyle/>
                    <a:p>
                      <a:r>
                        <a:rPr lang="en-IN" sz="1600" b="0" i="0" dirty="0">
                          <a:solidFill>
                            <a:schemeClr val="dk1"/>
                          </a:solidFill>
                          <a:effectLst/>
                          <a:latin typeface="+mn-lt"/>
                          <a:ea typeface="+mn-ea"/>
                          <a:cs typeface="+mn-cs"/>
                        </a:rPr>
                        <a:t>SVM, Random Forest</a:t>
                      </a:r>
                      <a:endParaRPr lang="en-US" sz="1600" dirty="0"/>
                    </a:p>
                  </a:txBody>
                  <a:tcPr/>
                </a:tc>
                <a:tc>
                  <a:txBody>
                    <a:bodyPr/>
                    <a:lstStyle/>
                    <a:p>
                      <a:r>
                        <a:rPr lang="en-IN" sz="1600" b="0" i="0" dirty="0">
                          <a:solidFill>
                            <a:schemeClr val="dk1"/>
                          </a:solidFill>
                          <a:effectLst/>
                          <a:latin typeface="+mn-lt"/>
                          <a:ea typeface="+mn-ea"/>
                          <a:cs typeface="+mn-cs"/>
                        </a:rPr>
                        <a:t>Applied traditional ML models on stress datasets</a:t>
                      </a:r>
                      <a:endParaRPr lang="en-US" sz="1600" dirty="0"/>
                    </a:p>
                  </a:txBody>
                  <a:tcPr/>
                </a:tc>
                <a:tc>
                  <a:txBody>
                    <a:bodyPr/>
                    <a:lstStyle/>
                    <a:p>
                      <a:r>
                        <a:rPr lang="en-IN" sz="1600" b="0" i="0" dirty="0">
                          <a:solidFill>
                            <a:schemeClr val="dk1"/>
                          </a:solidFill>
                          <a:effectLst/>
                          <a:latin typeface="+mn-lt"/>
                          <a:ea typeface="+mn-ea"/>
                          <a:cs typeface="+mn-cs"/>
                        </a:rPr>
                        <a:t>Simple and fast implementation</a:t>
                      </a:r>
                      <a:endParaRPr lang="en-US" sz="1600" dirty="0"/>
                    </a:p>
                  </a:txBody>
                  <a:tcPr/>
                </a:tc>
                <a:tc>
                  <a:txBody>
                    <a:bodyPr/>
                    <a:lstStyle/>
                    <a:p>
                      <a:r>
                        <a:rPr lang="en-US" sz="1600" b="0" i="0" dirty="0">
                          <a:solidFill>
                            <a:schemeClr val="dk1"/>
                          </a:solidFill>
                          <a:effectLst/>
                          <a:latin typeface="+mn-lt"/>
                          <a:ea typeface="+mn-ea"/>
                          <a:cs typeface="+mn-cs"/>
                        </a:rPr>
                        <a:t>Less accurate than deep learning</a:t>
                      </a:r>
                      <a:endParaRPr lang="en-US" sz="1600" dirty="0"/>
                    </a:p>
                  </a:txBody>
                  <a:tcPr/>
                </a:tc>
                <a:extLst>
                  <a:ext uri="{0D108BD9-81ED-4DB2-BD59-A6C34878D82A}">
                    <a16:rowId xmlns:a16="http://schemas.microsoft.com/office/drawing/2014/main" val="2610110383"/>
                  </a:ext>
                </a:extLst>
              </a:tr>
              <a:tr h="1294279">
                <a:tc>
                  <a:txBody>
                    <a:bodyPr/>
                    <a:lstStyle/>
                    <a:p>
                      <a:r>
                        <a:rPr lang="en-IN" sz="1600" b="0" i="0" dirty="0">
                          <a:solidFill>
                            <a:schemeClr val="dk1"/>
                          </a:solidFill>
                          <a:effectLst/>
                          <a:latin typeface="+mn-lt"/>
                          <a:ea typeface="+mn-ea"/>
                          <a:cs typeface="+mn-cs"/>
                        </a:rPr>
                        <a:t>Saeb et al. [10]</a:t>
                      </a:r>
                      <a:endParaRPr lang="en-IN" sz="1600" dirty="0"/>
                    </a:p>
                  </a:txBody>
                  <a:tcPr/>
                </a:tc>
                <a:tc>
                  <a:txBody>
                    <a:bodyPr/>
                    <a:lstStyle/>
                    <a:p>
                      <a:r>
                        <a:rPr lang="en-IN" sz="1600" b="0" i="0" dirty="0">
                          <a:solidFill>
                            <a:schemeClr val="dk1"/>
                          </a:solidFill>
                          <a:effectLst/>
                          <a:latin typeface="+mn-lt"/>
                          <a:ea typeface="+mn-ea"/>
                          <a:cs typeface="+mn-cs"/>
                        </a:rPr>
                        <a:t>Smartphone Stress (2025)</a:t>
                      </a:r>
                      <a:endParaRPr lang="en-US" sz="1600" dirty="0"/>
                    </a:p>
                  </a:txBody>
                  <a:tcPr/>
                </a:tc>
                <a:tc>
                  <a:txBody>
                    <a:bodyPr/>
                    <a:lstStyle/>
                    <a:p>
                      <a:r>
                        <a:rPr lang="en-IN" sz="1600" b="0" i="0" dirty="0">
                          <a:solidFill>
                            <a:schemeClr val="dk1"/>
                          </a:solidFill>
                          <a:effectLst/>
                          <a:latin typeface="+mn-lt"/>
                          <a:ea typeface="+mn-ea"/>
                          <a:cs typeface="+mn-cs"/>
                        </a:rPr>
                        <a:t>Sensors + ML</a:t>
                      </a:r>
                      <a:endParaRPr lang="en-IN" sz="1600" dirty="0"/>
                    </a:p>
                  </a:txBody>
                  <a:tcPr/>
                </a:tc>
                <a:tc>
                  <a:txBody>
                    <a:bodyPr/>
                    <a:lstStyle/>
                    <a:p>
                      <a:r>
                        <a:rPr lang="en-US" sz="1600" b="0" i="0" dirty="0">
                          <a:solidFill>
                            <a:schemeClr val="dk1"/>
                          </a:solidFill>
                          <a:effectLst/>
                          <a:latin typeface="+mn-lt"/>
                          <a:ea typeface="+mn-ea"/>
                          <a:cs typeface="+mn-cs"/>
                        </a:rPr>
                        <a:t>Used mobile sensor data (activity, usage) for stress prediction</a:t>
                      </a:r>
                      <a:endParaRPr lang="en-US" sz="1600" dirty="0"/>
                    </a:p>
                  </a:txBody>
                  <a:tcPr/>
                </a:tc>
                <a:tc>
                  <a:txBody>
                    <a:bodyPr/>
                    <a:lstStyle/>
                    <a:p>
                      <a:r>
                        <a:rPr lang="en-US" sz="1600" b="0" i="0" dirty="0">
                          <a:solidFill>
                            <a:schemeClr val="dk1"/>
                          </a:solidFill>
                          <a:effectLst/>
                          <a:latin typeface="+mn-lt"/>
                          <a:ea typeface="+mn-ea"/>
                          <a:cs typeface="+mn-cs"/>
                        </a:rPr>
                        <a:t>Passive monitoring without user effort</a:t>
                      </a:r>
                      <a:endParaRPr lang="en-US" sz="1600" dirty="0"/>
                    </a:p>
                  </a:txBody>
                  <a:tcPr/>
                </a:tc>
                <a:tc>
                  <a:txBody>
                    <a:bodyPr/>
                    <a:lstStyle/>
                    <a:p>
                      <a:r>
                        <a:rPr lang="en-IN" sz="1600" b="0" i="0" dirty="0">
                          <a:solidFill>
                            <a:schemeClr val="dk1"/>
                          </a:solidFill>
                          <a:effectLst/>
                          <a:latin typeface="+mn-lt"/>
                          <a:ea typeface="+mn-ea"/>
                          <a:cs typeface="+mn-cs"/>
                        </a:rPr>
                        <a:t>Privacy concerns</a:t>
                      </a:r>
                      <a:endParaRPr lang="en-US" sz="1600" dirty="0"/>
                    </a:p>
                  </a:txBody>
                  <a:tcPr/>
                </a:tc>
                <a:extLst>
                  <a:ext uri="{0D108BD9-81ED-4DB2-BD59-A6C34878D82A}">
                    <a16:rowId xmlns:a16="http://schemas.microsoft.com/office/drawing/2014/main" val="3565781351"/>
                  </a:ext>
                </a:extLst>
              </a:tr>
              <a:tr h="998444">
                <a:tc>
                  <a:txBody>
                    <a:bodyPr/>
                    <a:lstStyle/>
                    <a:p>
                      <a:r>
                        <a:rPr lang="en-IN" sz="1600" b="0" i="0" dirty="0">
                          <a:solidFill>
                            <a:schemeClr val="dk1"/>
                          </a:solidFill>
                          <a:effectLst/>
                          <a:latin typeface="+mn-lt"/>
                          <a:ea typeface="+mn-ea"/>
                          <a:cs typeface="+mn-cs"/>
                        </a:rPr>
                        <a:t>Li &amp; Deng [11]</a:t>
                      </a:r>
                      <a:endParaRPr lang="en-IN" sz="1600" dirty="0"/>
                    </a:p>
                  </a:txBody>
                  <a:tcPr/>
                </a:tc>
                <a:tc>
                  <a:txBody>
                    <a:bodyPr/>
                    <a:lstStyle/>
                    <a:p>
                      <a:r>
                        <a:rPr lang="en-IN" sz="1600" b="0" i="0" dirty="0">
                          <a:solidFill>
                            <a:schemeClr val="dk1"/>
                          </a:solidFill>
                          <a:effectLst/>
                          <a:latin typeface="+mn-lt"/>
                          <a:ea typeface="+mn-ea"/>
                          <a:cs typeface="+mn-cs"/>
                        </a:rPr>
                        <a:t>FER Survey (2024)</a:t>
                      </a:r>
                      <a:endParaRPr lang="en-US" sz="1600" dirty="0"/>
                    </a:p>
                  </a:txBody>
                  <a:tcPr/>
                </a:tc>
                <a:tc>
                  <a:txBody>
                    <a:bodyPr/>
                    <a:lstStyle/>
                    <a:p>
                      <a:r>
                        <a:rPr lang="en-IN" sz="1600" b="0" i="0" dirty="0">
                          <a:solidFill>
                            <a:schemeClr val="dk1"/>
                          </a:solidFill>
                          <a:effectLst/>
                          <a:latin typeface="+mn-lt"/>
                          <a:ea typeface="+mn-ea"/>
                          <a:cs typeface="+mn-cs"/>
                        </a:rPr>
                        <a:t>Review Study</a:t>
                      </a:r>
                      <a:endParaRPr lang="en-IN" sz="1600" dirty="0"/>
                    </a:p>
                  </a:txBody>
                  <a:tcPr/>
                </a:tc>
                <a:tc>
                  <a:txBody>
                    <a:bodyPr/>
                    <a:lstStyle/>
                    <a:p>
                      <a:r>
                        <a:rPr lang="en-US" sz="1600" b="0" i="0" dirty="0">
                          <a:solidFill>
                            <a:schemeClr val="dk1"/>
                          </a:solidFill>
                          <a:effectLst/>
                          <a:latin typeface="+mn-lt"/>
                          <a:ea typeface="+mn-ea"/>
                          <a:cs typeface="+mn-cs"/>
                        </a:rPr>
                        <a:t>Reviewed multiple deep learning emotion recognition methods</a:t>
                      </a:r>
                      <a:endParaRPr lang="en-US" sz="1600" dirty="0"/>
                    </a:p>
                  </a:txBody>
                  <a:tcPr/>
                </a:tc>
                <a:tc>
                  <a:txBody>
                    <a:bodyPr/>
                    <a:lstStyle/>
                    <a:p>
                      <a:r>
                        <a:rPr lang="en-IN" sz="1600" b="0" i="0" dirty="0">
                          <a:solidFill>
                            <a:schemeClr val="dk1"/>
                          </a:solidFill>
                          <a:effectLst/>
                          <a:latin typeface="+mn-lt"/>
                          <a:ea typeface="+mn-ea"/>
                          <a:cs typeface="+mn-cs"/>
                        </a:rPr>
                        <a:t>Strong theoretical understanding</a:t>
                      </a:r>
                      <a:endParaRPr lang="en-US" sz="1600" dirty="0"/>
                    </a:p>
                  </a:txBody>
                  <a:tcPr/>
                </a:tc>
                <a:tc>
                  <a:txBody>
                    <a:bodyPr/>
                    <a:lstStyle/>
                    <a:p>
                      <a:r>
                        <a:rPr lang="en-IN" sz="1600" b="0" i="0" dirty="0">
                          <a:solidFill>
                            <a:schemeClr val="dk1"/>
                          </a:solidFill>
                          <a:effectLst/>
                          <a:latin typeface="+mn-lt"/>
                          <a:ea typeface="+mn-ea"/>
                          <a:cs typeface="+mn-cs"/>
                        </a:rPr>
                        <a:t>No practical implementation</a:t>
                      </a:r>
                      <a:endParaRPr lang="en-US" sz="1600" dirty="0"/>
                    </a:p>
                  </a:txBody>
                  <a:tcPr/>
                </a:tc>
                <a:extLst>
                  <a:ext uri="{0D108BD9-81ED-4DB2-BD59-A6C34878D82A}">
                    <a16:rowId xmlns:a16="http://schemas.microsoft.com/office/drawing/2014/main" val="2630497002"/>
                  </a:ext>
                </a:extLst>
              </a:tr>
              <a:tr h="998444">
                <a:tc>
                  <a:txBody>
                    <a:bodyPr/>
                    <a:lstStyle/>
                    <a:p>
                      <a:r>
                        <a:rPr lang="en-IN" sz="1600" b="0" i="0" dirty="0">
                          <a:solidFill>
                            <a:schemeClr val="dk1"/>
                          </a:solidFill>
                          <a:effectLst/>
                          <a:latin typeface="+mn-lt"/>
                          <a:ea typeface="+mn-ea"/>
                          <a:cs typeface="+mn-cs"/>
                        </a:rPr>
                        <a:t>Ekman &amp; Friesen [12]</a:t>
                      </a:r>
                      <a:endParaRPr lang="en-IN" sz="1600" dirty="0"/>
                    </a:p>
                  </a:txBody>
                  <a:tcPr/>
                </a:tc>
                <a:tc>
                  <a:txBody>
                    <a:bodyPr/>
                    <a:lstStyle/>
                    <a:p>
                      <a:r>
                        <a:rPr lang="en-IN" sz="1600" b="0" i="0" dirty="0">
                          <a:solidFill>
                            <a:schemeClr val="dk1"/>
                          </a:solidFill>
                          <a:effectLst/>
                          <a:latin typeface="+mn-lt"/>
                          <a:ea typeface="+mn-ea"/>
                          <a:cs typeface="+mn-cs"/>
                        </a:rPr>
                        <a:t>Action Unit Stress (2024)</a:t>
                      </a:r>
                      <a:endParaRPr lang="en-US" sz="1600" dirty="0"/>
                    </a:p>
                  </a:txBody>
                  <a:tcPr/>
                </a:tc>
                <a:tc>
                  <a:txBody>
                    <a:bodyPr/>
                    <a:lstStyle/>
                    <a:p>
                      <a:r>
                        <a:rPr lang="en-IN" sz="1600" b="0" i="0" dirty="0">
                          <a:solidFill>
                            <a:schemeClr val="dk1"/>
                          </a:solidFill>
                          <a:effectLst/>
                          <a:latin typeface="+mn-lt"/>
                          <a:ea typeface="+mn-ea"/>
                          <a:cs typeface="+mn-cs"/>
                        </a:rPr>
                        <a:t>Facial Action Units + ML</a:t>
                      </a:r>
                      <a:endParaRPr lang="en-IN" sz="1600" dirty="0"/>
                    </a:p>
                  </a:txBody>
                  <a:tcPr/>
                </a:tc>
                <a:tc>
                  <a:txBody>
                    <a:bodyPr/>
                    <a:lstStyle/>
                    <a:p>
                      <a:r>
                        <a:rPr lang="en-US" sz="1600" b="0" i="0" dirty="0">
                          <a:solidFill>
                            <a:schemeClr val="dk1"/>
                          </a:solidFill>
                          <a:effectLst/>
                          <a:latin typeface="+mn-lt"/>
                          <a:ea typeface="+mn-ea"/>
                          <a:cs typeface="+mn-cs"/>
                        </a:rPr>
                        <a:t>Used facial muscle movements for stress detection</a:t>
                      </a:r>
                      <a:endParaRPr lang="en-US" sz="1600" dirty="0"/>
                    </a:p>
                  </a:txBody>
                  <a:tcPr/>
                </a:tc>
                <a:tc>
                  <a:txBody>
                    <a:bodyPr/>
                    <a:lstStyle/>
                    <a:p>
                      <a:r>
                        <a:rPr lang="en-IN" sz="1600" b="0" i="0" dirty="0">
                          <a:solidFill>
                            <a:schemeClr val="dk1"/>
                          </a:solidFill>
                          <a:effectLst/>
                          <a:latin typeface="+mn-lt"/>
                          <a:ea typeface="+mn-ea"/>
                          <a:cs typeface="+mn-cs"/>
                        </a:rPr>
                        <a:t>Detailed and fine-grained analysis</a:t>
                      </a:r>
                      <a:endParaRPr lang="en-US" sz="1600" dirty="0"/>
                    </a:p>
                  </a:txBody>
                  <a:tcPr/>
                </a:tc>
                <a:tc>
                  <a:txBody>
                    <a:bodyPr/>
                    <a:lstStyle/>
                    <a:p>
                      <a:r>
                        <a:rPr lang="en-IN" sz="1600" b="0" i="0" dirty="0">
                          <a:solidFill>
                            <a:schemeClr val="dk1"/>
                          </a:solidFill>
                          <a:effectLst/>
                          <a:latin typeface="+mn-lt"/>
                          <a:ea typeface="+mn-ea"/>
                          <a:cs typeface="+mn-cs"/>
                        </a:rPr>
                        <a:t>Complex feature extraction</a:t>
                      </a:r>
                      <a:endParaRPr lang="en-US" sz="1600" dirty="0"/>
                    </a:p>
                  </a:txBody>
                  <a:tcPr/>
                </a:tc>
                <a:extLst>
                  <a:ext uri="{0D108BD9-81ED-4DB2-BD59-A6C34878D82A}">
                    <a16:rowId xmlns:a16="http://schemas.microsoft.com/office/drawing/2014/main" val="2789137636"/>
                  </a:ext>
                </a:extLst>
              </a:tr>
            </a:tbl>
          </a:graphicData>
        </a:graphic>
      </p:graphicFrame>
      <p:sp>
        <p:nvSpPr>
          <p:cNvPr id="11" name="object 2">
            <a:extLst>
              <a:ext uri="{FF2B5EF4-FFF2-40B4-BE49-F238E27FC236}">
                <a16:creationId xmlns:a16="http://schemas.microsoft.com/office/drawing/2014/main" id="{D9F3AF99-8BD0-2C1E-CFD7-5C40C92596E3}"/>
              </a:ext>
            </a:extLst>
          </p:cNvPr>
          <p:cNvSpPr txBox="1">
            <a:spLocks/>
          </p:cNvSpPr>
          <p:nvPr/>
        </p:nvSpPr>
        <p:spPr>
          <a:xfrm>
            <a:off x="210820" y="174312"/>
            <a:ext cx="4970780" cy="382156"/>
          </a:xfrm>
          <a:prstGeom prst="rect">
            <a:avLst/>
          </a:prstGeom>
        </p:spPr>
        <p:txBody>
          <a:bodyPr vert="horz" wrap="square" lIns="0" tIns="12700" rIns="0" bIns="0" rtlCol="0">
            <a:spAutoFit/>
          </a:bodyPr>
          <a:lstStyle>
            <a:lvl1pPr>
              <a:defRPr sz="2000" b="1" i="0">
                <a:solidFill>
                  <a:schemeClr val="tx1"/>
                </a:solidFill>
                <a:latin typeface="Arial"/>
                <a:ea typeface="+mj-ea"/>
                <a:cs typeface="Arial"/>
              </a:defRPr>
            </a:lvl1pPr>
          </a:lstStyle>
          <a:p>
            <a:pPr marL="12700">
              <a:spcBef>
                <a:spcPts val="100"/>
              </a:spcBef>
            </a:pPr>
            <a:r>
              <a:rPr lang="en-IN" sz="2400" kern="0" spc="-5" dirty="0">
                <a:solidFill>
                  <a:srgbClr val="FFFFFF"/>
                </a:solidFill>
              </a:rPr>
              <a:t>Literature</a:t>
            </a:r>
            <a:r>
              <a:rPr lang="en-IN" sz="2400" kern="0" spc="-80" dirty="0">
                <a:solidFill>
                  <a:srgbClr val="FFFFFF"/>
                </a:solidFill>
              </a:rPr>
              <a:t> </a:t>
            </a:r>
            <a:r>
              <a:rPr lang="en-IN" sz="2400" kern="0" spc="-5" dirty="0">
                <a:solidFill>
                  <a:srgbClr val="FFFFFF"/>
                </a:solidFill>
              </a:rPr>
              <a:t>Review(3)</a:t>
            </a:r>
            <a:endParaRPr lang="en-IN" sz="2400" kern="0" dirty="0"/>
          </a:p>
        </p:txBody>
      </p:sp>
    </p:spTree>
    <p:extLst>
      <p:ext uri="{BB962C8B-B14F-4D97-AF65-F5344CB8AC3E}">
        <p14:creationId xmlns:p14="http://schemas.microsoft.com/office/powerpoint/2010/main" val="4223337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72C01-E02C-A31D-45AE-620941CC2A5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31565AC-7D8D-EB7C-674E-30BA4B7DA359}"/>
              </a:ext>
            </a:extLst>
          </p:cNvPr>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sp>
        <p:nvSpPr>
          <p:cNvPr id="11" name="object 2">
            <a:extLst>
              <a:ext uri="{FF2B5EF4-FFF2-40B4-BE49-F238E27FC236}">
                <a16:creationId xmlns:a16="http://schemas.microsoft.com/office/drawing/2014/main" id="{AD8D54E6-1770-BF22-DC89-0121DBF69E89}"/>
              </a:ext>
            </a:extLst>
          </p:cNvPr>
          <p:cNvSpPr txBox="1">
            <a:spLocks/>
          </p:cNvSpPr>
          <p:nvPr/>
        </p:nvSpPr>
        <p:spPr>
          <a:xfrm>
            <a:off x="210820" y="174312"/>
            <a:ext cx="4970780" cy="382156"/>
          </a:xfrm>
          <a:prstGeom prst="rect">
            <a:avLst/>
          </a:prstGeom>
        </p:spPr>
        <p:txBody>
          <a:bodyPr vert="horz" wrap="square" lIns="0" tIns="12700" rIns="0" bIns="0" rtlCol="0">
            <a:spAutoFit/>
          </a:bodyPr>
          <a:lstStyle>
            <a:lvl1pPr>
              <a:defRPr sz="2000" b="1" i="0">
                <a:solidFill>
                  <a:schemeClr val="tx1"/>
                </a:solidFill>
                <a:latin typeface="Arial"/>
                <a:ea typeface="+mj-ea"/>
                <a:cs typeface="Arial"/>
              </a:defRPr>
            </a:lvl1pPr>
          </a:lstStyle>
          <a:p>
            <a:pPr marL="12700">
              <a:spcBef>
                <a:spcPts val="100"/>
              </a:spcBef>
            </a:pPr>
            <a:r>
              <a:rPr lang="en-IN" sz="2400" kern="0" spc="-5" dirty="0">
                <a:solidFill>
                  <a:srgbClr val="FFFFFF"/>
                </a:solidFill>
              </a:rPr>
              <a:t>Research Gap </a:t>
            </a:r>
            <a:endParaRPr lang="en-IN" sz="2400" kern="0" dirty="0"/>
          </a:p>
        </p:txBody>
      </p:sp>
      <p:sp>
        <p:nvSpPr>
          <p:cNvPr id="3" name="TextBox 2">
            <a:extLst>
              <a:ext uri="{FF2B5EF4-FFF2-40B4-BE49-F238E27FC236}">
                <a16:creationId xmlns:a16="http://schemas.microsoft.com/office/drawing/2014/main" id="{535CD6C4-D674-47B1-EF1D-355AE9CBCFF7}"/>
              </a:ext>
            </a:extLst>
          </p:cNvPr>
          <p:cNvSpPr txBox="1"/>
          <p:nvPr/>
        </p:nvSpPr>
        <p:spPr>
          <a:xfrm>
            <a:off x="342900" y="990600"/>
            <a:ext cx="8458200" cy="3554819"/>
          </a:xfrm>
          <a:prstGeom prst="rect">
            <a:avLst/>
          </a:prstGeom>
          <a:noFill/>
        </p:spPr>
        <p:txBody>
          <a:bodyPr wrap="square">
            <a:spAutoFit/>
          </a:bodyPr>
          <a:lstStyle/>
          <a:p>
            <a:pPr algn="just">
              <a:buNone/>
            </a:pPr>
            <a:r>
              <a:rPr lang="en-US" b="1" dirty="0"/>
              <a:t>Key Observations:</a:t>
            </a:r>
          </a:p>
          <a:p>
            <a:pPr marL="285750" indent="-285750" algn="just">
              <a:lnSpc>
                <a:spcPct val="150000"/>
              </a:lnSpc>
              <a:buFont typeface="Wingdings" panose="05000000000000000000" pitchFamily="2" charset="2"/>
              <a:buChar char="§"/>
            </a:pPr>
            <a:r>
              <a:rPr lang="en-US" dirty="0"/>
              <a:t>Physiological systems require specialized hardware.</a:t>
            </a:r>
          </a:p>
          <a:p>
            <a:pPr marL="285750" indent="-285750" algn="just">
              <a:lnSpc>
                <a:spcPct val="150000"/>
              </a:lnSpc>
              <a:buFont typeface="Wingdings" panose="05000000000000000000" pitchFamily="2" charset="2"/>
              <a:buChar char="§"/>
            </a:pPr>
            <a:r>
              <a:rPr lang="en-US" dirty="0"/>
              <a:t>Emotion detection systems analyze facial expressions but do not directly predict stress.</a:t>
            </a:r>
          </a:p>
          <a:p>
            <a:pPr marL="285750" indent="-285750" algn="just">
              <a:lnSpc>
                <a:spcPct val="150000"/>
              </a:lnSpc>
              <a:buFont typeface="Wingdings" panose="05000000000000000000" pitchFamily="2" charset="2"/>
              <a:buChar char="§"/>
            </a:pPr>
            <a:r>
              <a:rPr lang="en-US" dirty="0"/>
              <a:t>Behavioural datasets focus on lifestyle factors but ignore emotional signals.</a:t>
            </a:r>
          </a:p>
          <a:p>
            <a:pPr marL="285750" indent="-285750" algn="just">
              <a:lnSpc>
                <a:spcPct val="150000"/>
              </a:lnSpc>
              <a:buFont typeface="Wingdings" panose="05000000000000000000" pitchFamily="2" charset="2"/>
              <a:buChar char="§"/>
            </a:pPr>
            <a:r>
              <a:rPr lang="en-US" dirty="0"/>
              <a:t>Most existing approaches rely on a single data source.</a:t>
            </a:r>
          </a:p>
          <a:p>
            <a:pPr marL="285750" indent="-285750" algn="just">
              <a:buFont typeface="Wingdings" panose="05000000000000000000" pitchFamily="2" charset="2"/>
              <a:buChar char="§"/>
            </a:pPr>
            <a:endParaRPr lang="en-US" dirty="0"/>
          </a:p>
          <a:p>
            <a:pPr algn="just"/>
            <a:endParaRPr lang="en-US" dirty="0"/>
          </a:p>
          <a:p>
            <a:pPr algn="just"/>
            <a:r>
              <a:rPr lang="en-US" dirty="0"/>
              <a:t>Our project proposes a multimodal system that combines behavioural data and facial analysis to predict stress.</a:t>
            </a:r>
          </a:p>
        </p:txBody>
      </p:sp>
    </p:spTree>
    <p:extLst>
      <p:ext uri="{BB962C8B-B14F-4D97-AF65-F5344CB8AC3E}">
        <p14:creationId xmlns:p14="http://schemas.microsoft.com/office/powerpoint/2010/main" val="2646366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6120282"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rPr>
              <a:t>Project</a:t>
            </a:r>
            <a:r>
              <a:rPr sz="2400" spc="-85" dirty="0">
                <a:solidFill>
                  <a:srgbClr val="FFFFFF"/>
                </a:solidFill>
              </a:rPr>
              <a:t> </a:t>
            </a:r>
            <a:r>
              <a:rPr sz="2400" spc="-5" dirty="0">
                <a:solidFill>
                  <a:srgbClr val="FFFFFF"/>
                </a:solidFill>
              </a:rPr>
              <a:t>Design</a:t>
            </a:r>
            <a:r>
              <a:rPr lang="en-US" sz="2400" spc="-5" dirty="0">
                <a:solidFill>
                  <a:srgbClr val="FFFFFF"/>
                </a:solidFill>
              </a:rPr>
              <a:t> (System Architecture)</a:t>
            </a:r>
            <a:endParaRPr sz="2400" dirty="0"/>
          </a:p>
        </p:txBody>
      </p:sp>
      <p:sp>
        <p:nvSpPr>
          <p:cNvPr id="4" name="object 4"/>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pic>
        <p:nvPicPr>
          <p:cNvPr id="6" name="Picture 5">
            <a:extLst>
              <a:ext uri="{FF2B5EF4-FFF2-40B4-BE49-F238E27FC236}">
                <a16:creationId xmlns:a16="http://schemas.microsoft.com/office/drawing/2014/main" id="{7B11AF29-11D9-33DB-0DA6-F8BDD32B6C6D}"/>
              </a:ext>
            </a:extLst>
          </p:cNvPr>
          <p:cNvPicPr>
            <a:picLocks noChangeAspect="1"/>
          </p:cNvPicPr>
          <p:nvPr/>
        </p:nvPicPr>
        <p:blipFill>
          <a:blip r:embed="rId2"/>
          <a:stretch>
            <a:fillRect/>
          </a:stretch>
        </p:blipFill>
        <p:spPr>
          <a:xfrm>
            <a:off x="2126767" y="888835"/>
            <a:ext cx="4330700" cy="5551890"/>
          </a:xfrm>
          <a:prstGeom prst="rect">
            <a:avLst/>
          </a:prstGeom>
        </p:spPr>
      </p:pic>
      <p:sp>
        <p:nvSpPr>
          <p:cNvPr id="7" name="TextBox 6">
            <a:extLst>
              <a:ext uri="{FF2B5EF4-FFF2-40B4-BE49-F238E27FC236}">
                <a16:creationId xmlns:a16="http://schemas.microsoft.com/office/drawing/2014/main" id="{D99F9286-1F6B-FC17-EB46-E5C55F47A44F}"/>
              </a:ext>
            </a:extLst>
          </p:cNvPr>
          <p:cNvSpPr txBox="1"/>
          <p:nvPr/>
        </p:nvSpPr>
        <p:spPr>
          <a:xfrm>
            <a:off x="186207" y="6330058"/>
            <a:ext cx="8610600" cy="338554"/>
          </a:xfrm>
          <a:prstGeom prst="rect">
            <a:avLst/>
          </a:prstGeom>
          <a:noFill/>
        </p:spPr>
        <p:txBody>
          <a:bodyPr wrap="square">
            <a:spAutoFit/>
          </a:bodyPr>
          <a:lstStyle/>
          <a:p>
            <a:pPr algn="ctr">
              <a:buNone/>
            </a:pPr>
            <a:r>
              <a:rPr lang="en-US" sz="1600" dirty="0"/>
              <a:t>Fig: System Architecture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9F480-7294-F40B-A876-A09DA36FAB6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3B5724B-F9FB-F56E-5691-57E2CD777212}"/>
              </a:ext>
            </a:extLst>
          </p:cNvPr>
          <p:cNvSpPr txBox="1">
            <a:spLocks noGrp="1"/>
          </p:cNvSpPr>
          <p:nvPr>
            <p:ph type="title"/>
          </p:nvPr>
        </p:nvSpPr>
        <p:spPr>
          <a:xfrm>
            <a:off x="210820" y="174312"/>
            <a:ext cx="7180580" cy="382156"/>
          </a:xfrm>
          <a:prstGeom prst="rect">
            <a:avLst/>
          </a:prstGeom>
        </p:spPr>
        <p:txBody>
          <a:bodyPr vert="horz" wrap="square" lIns="0" tIns="12700" rIns="0" bIns="0" rtlCol="0">
            <a:spAutoFit/>
          </a:bodyPr>
          <a:lstStyle/>
          <a:p>
            <a:pPr marL="12700">
              <a:lnSpc>
                <a:spcPct val="100000"/>
              </a:lnSpc>
              <a:spcBef>
                <a:spcPts val="100"/>
              </a:spcBef>
            </a:pPr>
            <a:r>
              <a:rPr lang="en-IN" sz="2400" spc="-5" dirty="0">
                <a:solidFill>
                  <a:srgbClr val="FFFFFF"/>
                </a:solidFill>
              </a:rPr>
              <a:t>Project Design</a:t>
            </a:r>
            <a:r>
              <a:rPr lang="en-IN" sz="2400" spc="-60" dirty="0">
                <a:solidFill>
                  <a:srgbClr val="FFFFFF"/>
                </a:solidFill>
              </a:rPr>
              <a:t> </a:t>
            </a:r>
            <a:r>
              <a:rPr lang="en-IN" sz="2400" b="0" spc="-5" dirty="0">
                <a:solidFill>
                  <a:srgbClr val="FFFFFF"/>
                </a:solidFill>
                <a:latin typeface="Arial"/>
                <a:cs typeface="Arial"/>
              </a:rPr>
              <a:t>(System Workflow)</a:t>
            </a:r>
            <a:endParaRPr lang="en-IN" sz="2400" dirty="0">
              <a:latin typeface="Arial"/>
              <a:cs typeface="Arial"/>
            </a:endParaRPr>
          </a:p>
        </p:txBody>
      </p:sp>
      <p:sp>
        <p:nvSpPr>
          <p:cNvPr id="4" name="object 4">
            <a:extLst>
              <a:ext uri="{FF2B5EF4-FFF2-40B4-BE49-F238E27FC236}">
                <a16:creationId xmlns:a16="http://schemas.microsoft.com/office/drawing/2014/main" id="{D3B3C0B9-DD16-9403-D14E-38616E6BDABE}"/>
              </a:ext>
            </a:extLst>
          </p:cNvPr>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pic>
        <p:nvPicPr>
          <p:cNvPr id="7" name="Picture 6">
            <a:extLst>
              <a:ext uri="{FF2B5EF4-FFF2-40B4-BE49-F238E27FC236}">
                <a16:creationId xmlns:a16="http://schemas.microsoft.com/office/drawing/2014/main" id="{C64345E6-2F88-8937-819F-FC413D73E0B5}"/>
              </a:ext>
            </a:extLst>
          </p:cNvPr>
          <p:cNvPicPr>
            <a:picLocks noChangeAspect="1"/>
          </p:cNvPicPr>
          <p:nvPr/>
        </p:nvPicPr>
        <p:blipFill>
          <a:blip r:embed="rId2"/>
          <a:stretch>
            <a:fillRect/>
          </a:stretch>
        </p:blipFill>
        <p:spPr>
          <a:xfrm>
            <a:off x="1676487" y="731481"/>
            <a:ext cx="5486313" cy="5639013"/>
          </a:xfrm>
          <a:prstGeom prst="rect">
            <a:avLst/>
          </a:prstGeom>
        </p:spPr>
      </p:pic>
      <p:sp>
        <p:nvSpPr>
          <p:cNvPr id="8" name="TextBox 7">
            <a:extLst>
              <a:ext uri="{FF2B5EF4-FFF2-40B4-BE49-F238E27FC236}">
                <a16:creationId xmlns:a16="http://schemas.microsoft.com/office/drawing/2014/main" id="{CE9278B1-429A-2BC0-BEFB-1C0A348839CA}"/>
              </a:ext>
            </a:extLst>
          </p:cNvPr>
          <p:cNvSpPr txBox="1"/>
          <p:nvPr/>
        </p:nvSpPr>
        <p:spPr>
          <a:xfrm>
            <a:off x="114343" y="6314992"/>
            <a:ext cx="8610600" cy="338554"/>
          </a:xfrm>
          <a:prstGeom prst="rect">
            <a:avLst/>
          </a:prstGeom>
          <a:noFill/>
        </p:spPr>
        <p:txBody>
          <a:bodyPr wrap="square">
            <a:spAutoFit/>
          </a:bodyPr>
          <a:lstStyle/>
          <a:p>
            <a:pPr algn="ctr">
              <a:buNone/>
            </a:pPr>
            <a:r>
              <a:rPr lang="en-US" sz="1600" dirty="0"/>
              <a:t>Fig: System Workflow</a:t>
            </a:r>
          </a:p>
        </p:txBody>
      </p:sp>
    </p:spTree>
    <p:extLst>
      <p:ext uri="{BB962C8B-B14F-4D97-AF65-F5344CB8AC3E}">
        <p14:creationId xmlns:p14="http://schemas.microsoft.com/office/powerpoint/2010/main" val="2539283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565658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rPr>
              <a:t>Implementation</a:t>
            </a:r>
            <a:r>
              <a:rPr lang="en-US" sz="2400" spc="-5" dirty="0">
                <a:solidFill>
                  <a:srgbClr val="FFFFFF"/>
                </a:solidFill>
              </a:rPr>
              <a:t> (Dataset)</a:t>
            </a:r>
            <a:endParaRPr sz="2400" dirty="0"/>
          </a:p>
        </p:txBody>
      </p:sp>
      <p:sp>
        <p:nvSpPr>
          <p:cNvPr id="4" name="object 4"/>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sp>
        <p:nvSpPr>
          <p:cNvPr id="3" name="object 3"/>
          <p:cNvSpPr txBox="1"/>
          <p:nvPr/>
        </p:nvSpPr>
        <p:spPr>
          <a:xfrm>
            <a:off x="166876" y="565472"/>
            <a:ext cx="8766304" cy="5909310"/>
          </a:xfrm>
          <a:prstGeom prst="rect">
            <a:avLst/>
          </a:prstGeom>
        </p:spPr>
        <p:txBody>
          <a:bodyPr vert="horz" wrap="square" lIns="0" tIns="152400" rIns="0" bIns="0" rtlCol="0">
            <a:spAutoFit/>
          </a:bodyPr>
          <a:lstStyle/>
          <a:p>
            <a:pPr>
              <a:buNone/>
            </a:pPr>
            <a:r>
              <a:rPr lang="en-IN" b="1" dirty="0"/>
              <a:t>Dataset Description</a:t>
            </a:r>
          </a:p>
          <a:p>
            <a:pPr marL="285750" indent="-285750">
              <a:buFont typeface="Arial" panose="020B0604020202020204" pitchFamily="34" charset="0"/>
              <a:buChar char="•"/>
            </a:pPr>
            <a:r>
              <a:rPr lang="en-IN" dirty="0"/>
              <a:t>Real-world dataset: Student Stress Monitoring Dataset</a:t>
            </a:r>
          </a:p>
          <a:p>
            <a:pPr marL="285750" indent="-285750">
              <a:buFont typeface="Arial" panose="020B0604020202020204" pitchFamily="34" charset="0"/>
              <a:buChar char="•"/>
            </a:pPr>
            <a:r>
              <a:rPr lang="en-IN" dirty="0"/>
              <a:t>Contains ~1100 student records with behavioural and psychological indicators</a:t>
            </a:r>
          </a:p>
          <a:p>
            <a:pPr marL="285750" indent="-285750">
              <a:buFont typeface="Arial" panose="020B0604020202020204" pitchFamily="34" charset="0"/>
              <a:buChar char="•"/>
            </a:pPr>
            <a:r>
              <a:rPr lang="en-IN" dirty="0"/>
              <a:t>Target variable: Stress Level</a:t>
            </a:r>
          </a:p>
          <a:p>
            <a:pPr>
              <a:buNone/>
            </a:pPr>
            <a:r>
              <a:rPr lang="en-IN" b="1" dirty="0"/>
              <a:t>Key Features:</a:t>
            </a:r>
          </a:p>
          <a:p>
            <a:pPr>
              <a:buNone/>
            </a:pPr>
            <a:r>
              <a:rPr lang="en-IN" b="1" dirty="0"/>
              <a:t>1. Behavioural &amp; Lifestyle</a:t>
            </a:r>
          </a:p>
          <a:p>
            <a:pPr marL="285750" indent="-285750">
              <a:buFont typeface="Arial" panose="020B0604020202020204" pitchFamily="34" charset="0"/>
              <a:buChar char="•"/>
            </a:pPr>
            <a:r>
              <a:rPr lang="en-IN" dirty="0"/>
              <a:t>Sleep quality</a:t>
            </a:r>
          </a:p>
          <a:p>
            <a:pPr marL="285750" indent="-285750">
              <a:buFont typeface="Arial" panose="020B0604020202020204" pitchFamily="34" charset="0"/>
              <a:buChar char="•"/>
            </a:pPr>
            <a:r>
              <a:rPr lang="en-IN" dirty="0"/>
              <a:t>Study hours</a:t>
            </a:r>
          </a:p>
          <a:p>
            <a:pPr marL="285750" indent="-285750">
              <a:buFont typeface="Arial" panose="020B0604020202020204" pitchFamily="34" charset="0"/>
              <a:buChar char="•"/>
            </a:pPr>
            <a:r>
              <a:rPr lang="en-IN" dirty="0"/>
              <a:t>Academic pressure</a:t>
            </a:r>
          </a:p>
          <a:p>
            <a:pPr marL="285750" indent="-285750">
              <a:buFont typeface="Arial" panose="020B0604020202020204" pitchFamily="34" charset="0"/>
              <a:buChar char="•"/>
            </a:pPr>
            <a:r>
              <a:rPr lang="en-IN" dirty="0"/>
              <a:t>Social support</a:t>
            </a:r>
          </a:p>
          <a:p>
            <a:pPr marL="285750" indent="-285750">
              <a:buFont typeface="Arial" panose="020B0604020202020204" pitchFamily="34" charset="0"/>
              <a:buChar char="•"/>
            </a:pPr>
            <a:r>
              <a:rPr lang="en-IN" dirty="0"/>
              <a:t>Screen time</a:t>
            </a:r>
          </a:p>
          <a:p>
            <a:pPr>
              <a:buNone/>
            </a:pPr>
            <a:r>
              <a:rPr lang="en-IN" b="1" dirty="0"/>
              <a:t>2. Psychological Indicators</a:t>
            </a:r>
          </a:p>
          <a:p>
            <a:pPr marL="285750" indent="-285750">
              <a:buFont typeface="Arial" panose="020B0604020202020204" pitchFamily="34" charset="0"/>
              <a:buChar char="•"/>
            </a:pPr>
            <a:r>
              <a:rPr lang="en-IN" dirty="0"/>
              <a:t>Anxiety level</a:t>
            </a:r>
          </a:p>
          <a:p>
            <a:pPr marL="285750" indent="-285750">
              <a:buFont typeface="Arial" panose="020B0604020202020204" pitchFamily="34" charset="0"/>
              <a:buChar char="•"/>
            </a:pPr>
            <a:r>
              <a:rPr lang="en-IN" dirty="0"/>
              <a:t>Self-esteem</a:t>
            </a:r>
          </a:p>
          <a:p>
            <a:pPr marL="285750" indent="-285750">
              <a:buFont typeface="Arial" panose="020B0604020202020204" pitchFamily="34" charset="0"/>
              <a:buChar char="•"/>
            </a:pPr>
            <a:r>
              <a:rPr lang="en-IN" dirty="0"/>
              <a:t>Depression indicators</a:t>
            </a:r>
          </a:p>
          <a:p>
            <a:pPr>
              <a:buNone/>
            </a:pPr>
            <a:r>
              <a:rPr lang="en-IN" b="1" dirty="0"/>
              <a:t>3. Stress Classes</a:t>
            </a:r>
          </a:p>
          <a:p>
            <a:pPr marL="285750" indent="-285750">
              <a:buFont typeface="Arial" panose="020B0604020202020204" pitchFamily="34" charset="0"/>
              <a:buChar char="•"/>
            </a:pPr>
            <a:r>
              <a:rPr lang="en-IN" dirty="0"/>
              <a:t>Low Stress</a:t>
            </a:r>
          </a:p>
          <a:p>
            <a:pPr marL="285750" indent="-285750">
              <a:buFont typeface="Arial" panose="020B0604020202020204" pitchFamily="34" charset="0"/>
              <a:buChar char="•"/>
            </a:pPr>
            <a:r>
              <a:rPr lang="en-IN" dirty="0"/>
              <a:t>Moderate Stress</a:t>
            </a:r>
          </a:p>
          <a:p>
            <a:pPr marL="285750" indent="-285750">
              <a:buFont typeface="Arial" panose="020B0604020202020204" pitchFamily="34" charset="0"/>
              <a:buChar char="•"/>
            </a:pPr>
            <a:r>
              <a:rPr lang="en-IN" dirty="0"/>
              <a:t>High Stress</a:t>
            </a:r>
          </a:p>
          <a:p>
            <a:pPr>
              <a:buNone/>
            </a:pPr>
            <a:r>
              <a:rPr lang="en-IN" b="1" dirty="0"/>
              <a:t>Dataset Source:</a:t>
            </a:r>
          </a:p>
          <a:p>
            <a:pPr>
              <a:buNone/>
            </a:pPr>
            <a:r>
              <a:rPr lang="en-IN" sz="1600" dirty="0"/>
              <a:t>Kaggle – Student Stress Monitoring Dataset [13]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5046980" cy="382156"/>
          </a:xfrm>
          <a:prstGeom prst="rect">
            <a:avLst/>
          </a:prstGeom>
        </p:spPr>
        <p:txBody>
          <a:bodyPr vert="horz" wrap="square" lIns="0" tIns="12700" rIns="0" bIns="0" rtlCol="0">
            <a:spAutoFit/>
          </a:bodyPr>
          <a:lstStyle/>
          <a:p>
            <a:pPr marL="12700">
              <a:lnSpc>
                <a:spcPct val="100000"/>
              </a:lnSpc>
              <a:spcBef>
                <a:spcPts val="100"/>
              </a:spcBef>
            </a:pPr>
            <a:r>
              <a:rPr lang="en-US" sz="2400" spc="-5" dirty="0">
                <a:solidFill>
                  <a:srgbClr val="FFFFFF"/>
                </a:solidFill>
              </a:rPr>
              <a:t>Implementation </a:t>
            </a:r>
            <a:r>
              <a:rPr sz="2400" b="0" spc="-5" dirty="0">
                <a:solidFill>
                  <a:srgbClr val="FFFFFF"/>
                </a:solidFill>
                <a:latin typeface="Arial"/>
                <a:cs typeface="Arial"/>
              </a:rPr>
              <a:t>(</a:t>
            </a:r>
            <a:r>
              <a:rPr lang="en-US" sz="2400" b="0" spc="-5" dirty="0">
                <a:solidFill>
                  <a:srgbClr val="FFFFFF"/>
                </a:solidFill>
              </a:rPr>
              <a:t>Data Flow</a:t>
            </a:r>
            <a:r>
              <a:rPr sz="2400" b="0" spc="-5" dirty="0">
                <a:solidFill>
                  <a:srgbClr val="FFFFFF"/>
                </a:solidFill>
                <a:latin typeface="Arial"/>
                <a:cs typeface="Arial"/>
              </a:rPr>
              <a:t>)</a:t>
            </a:r>
            <a:endParaRPr sz="2400" dirty="0">
              <a:latin typeface="Arial"/>
              <a:cs typeface="Arial"/>
            </a:endParaRPr>
          </a:p>
        </p:txBody>
      </p:sp>
      <p:sp>
        <p:nvSpPr>
          <p:cNvPr id="4" name="object 4"/>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pic>
        <p:nvPicPr>
          <p:cNvPr id="6" name="Picture 5">
            <a:extLst>
              <a:ext uri="{FF2B5EF4-FFF2-40B4-BE49-F238E27FC236}">
                <a16:creationId xmlns:a16="http://schemas.microsoft.com/office/drawing/2014/main" id="{BB0FFC0B-214B-7FD5-8C39-0FFA49BD7EA3}"/>
              </a:ext>
            </a:extLst>
          </p:cNvPr>
          <p:cNvPicPr>
            <a:picLocks noChangeAspect="1"/>
          </p:cNvPicPr>
          <p:nvPr/>
        </p:nvPicPr>
        <p:blipFill>
          <a:blip r:embed="rId2"/>
          <a:stretch>
            <a:fillRect/>
          </a:stretch>
        </p:blipFill>
        <p:spPr>
          <a:xfrm>
            <a:off x="210820" y="1094058"/>
            <a:ext cx="8610601" cy="4735241"/>
          </a:xfrm>
          <a:prstGeom prst="rect">
            <a:avLst/>
          </a:prstGeom>
        </p:spPr>
      </p:pic>
      <p:sp>
        <p:nvSpPr>
          <p:cNvPr id="7" name="TextBox 6">
            <a:extLst>
              <a:ext uri="{FF2B5EF4-FFF2-40B4-BE49-F238E27FC236}">
                <a16:creationId xmlns:a16="http://schemas.microsoft.com/office/drawing/2014/main" id="{FE6E2674-5C70-1F4D-097D-40EC44999333}"/>
              </a:ext>
            </a:extLst>
          </p:cNvPr>
          <p:cNvSpPr txBox="1"/>
          <p:nvPr/>
        </p:nvSpPr>
        <p:spPr>
          <a:xfrm>
            <a:off x="266700" y="6024533"/>
            <a:ext cx="8610600" cy="338554"/>
          </a:xfrm>
          <a:prstGeom prst="rect">
            <a:avLst/>
          </a:prstGeom>
          <a:noFill/>
        </p:spPr>
        <p:txBody>
          <a:bodyPr wrap="square">
            <a:spAutoFit/>
          </a:bodyPr>
          <a:lstStyle/>
          <a:p>
            <a:pPr algn="ctr">
              <a:buNone/>
            </a:pPr>
            <a:r>
              <a:rPr lang="en-US" sz="1600" dirty="0"/>
              <a:t>Fig: Data Flow Diagram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38D6F-CFBB-9940-852A-194E0729D4F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1CC35F2-4DD5-129D-17A4-DD15FDFEF68D}"/>
              </a:ext>
            </a:extLst>
          </p:cNvPr>
          <p:cNvSpPr txBox="1">
            <a:spLocks noGrp="1"/>
          </p:cNvSpPr>
          <p:nvPr>
            <p:ph type="title"/>
          </p:nvPr>
        </p:nvSpPr>
        <p:spPr>
          <a:xfrm>
            <a:off x="210820" y="174312"/>
            <a:ext cx="5374005" cy="382156"/>
          </a:xfrm>
          <a:prstGeom prst="rect">
            <a:avLst/>
          </a:prstGeom>
        </p:spPr>
        <p:txBody>
          <a:bodyPr vert="horz" wrap="square" lIns="0" tIns="12700" rIns="0" bIns="0" rtlCol="0">
            <a:spAutoFit/>
          </a:bodyPr>
          <a:lstStyle/>
          <a:p>
            <a:pPr marL="12700">
              <a:lnSpc>
                <a:spcPct val="100000"/>
              </a:lnSpc>
              <a:spcBef>
                <a:spcPts val="100"/>
              </a:spcBef>
            </a:pPr>
            <a:r>
              <a:rPr lang="en-IN" sz="2400" spc="-5" dirty="0">
                <a:solidFill>
                  <a:srgbClr val="FFFFFF"/>
                </a:solidFill>
              </a:rPr>
              <a:t>Implementation</a:t>
            </a:r>
            <a:r>
              <a:rPr lang="en-IN" sz="2400" spc="-60" dirty="0">
                <a:solidFill>
                  <a:srgbClr val="FFFFFF"/>
                </a:solidFill>
              </a:rPr>
              <a:t> </a:t>
            </a:r>
            <a:r>
              <a:rPr lang="en-IN" sz="2400" b="0" spc="-5" dirty="0">
                <a:solidFill>
                  <a:srgbClr val="FFFFFF"/>
                </a:solidFill>
                <a:latin typeface="Arial"/>
                <a:cs typeface="Arial"/>
              </a:rPr>
              <a:t>(Machine Learning)</a:t>
            </a:r>
            <a:endParaRPr sz="2400" dirty="0"/>
          </a:p>
        </p:txBody>
      </p:sp>
      <p:sp>
        <p:nvSpPr>
          <p:cNvPr id="6" name="object 6">
            <a:extLst>
              <a:ext uri="{FF2B5EF4-FFF2-40B4-BE49-F238E27FC236}">
                <a16:creationId xmlns:a16="http://schemas.microsoft.com/office/drawing/2014/main" id="{F8F6050C-98CB-31F0-F0CA-7C92031204EC}"/>
              </a:ext>
            </a:extLst>
          </p:cNvPr>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pic>
        <p:nvPicPr>
          <p:cNvPr id="8" name="Picture 7">
            <a:extLst>
              <a:ext uri="{FF2B5EF4-FFF2-40B4-BE49-F238E27FC236}">
                <a16:creationId xmlns:a16="http://schemas.microsoft.com/office/drawing/2014/main" id="{1D081E3E-6C27-155E-3909-E7D878752EA2}"/>
              </a:ext>
            </a:extLst>
          </p:cNvPr>
          <p:cNvPicPr>
            <a:picLocks noChangeAspect="1"/>
          </p:cNvPicPr>
          <p:nvPr/>
        </p:nvPicPr>
        <p:blipFill>
          <a:blip r:embed="rId2"/>
          <a:stretch>
            <a:fillRect/>
          </a:stretch>
        </p:blipFill>
        <p:spPr>
          <a:xfrm>
            <a:off x="30075" y="1796916"/>
            <a:ext cx="4541926" cy="3389327"/>
          </a:xfrm>
          <a:prstGeom prst="rect">
            <a:avLst/>
          </a:prstGeom>
        </p:spPr>
      </p:pic>
      <p:pic>
        <p:nvPicPr>
          <p:cNvPr id="10" name="Picture 9">
            <a:extLst>
              <a:ext uri="{FF2B5EF4-FFF2-40B4-BE49-F238E27FC236}">
                <a16:creationId xmlns:a16="http://schemas.microsoft.com/office/drawing/2014/main" id="{B41E4926-F3AC-A4E9-BFB8-4FD0BB76D0D9}"/>
              </a:ext>
            </a:extLst>
          </p:cNvPr>
          <p:cNvPicPr>
            <a:picLocks noChangeAspect="1"/>
          </p:cNvPicPr>
          <p:nvPr/>
        </p:nvPicPr>
        <p:blipFill>
          <a:blip r:embed="rId3"/>
          <a:stretch>
            <a:fillRect/>
          </a:stretch>
        </p:blipFill>
        <p:spPr>
          <a:xfrm>
            <a:off x="4743415" y="1809194"/>
            <a:ext cx="4336097" cy="3239612"/>
          </a:xfrm>
          <a:prstGeom prst="rect">
            <a:avLst/>
          </a:prstGeom>
        </p:spPr>
      </p:pic>
    </p:spTree>
    <p:extLst>
      <p:ext uri="{BB962C8B-B14F-4D97-AF65-F5344CB8AC3E}">
        <p14:creationId xmlns:p14="http://schemas.microsoft.com/office/powerpoint/2010/main" val="3384359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14295-7F00-192E-A0A4-E5F9A4A5301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E99161B-83D2-0A54-EC17-4A350F4770F6}"/>
              </a:ext>
            </a:extLst>
          </p:cNvPr>
          <p:cNvSpPr txBox="1">
            <a:spLocks noGrp="1"/>
          </p:cNvSpPr>
          <p:nvPr>
            <p:ph type="title"/>
          </p:nvPr>
        </p:nvSpPr>
        <p:spPr>
          <a:xfrm>
            <a:off x="210820" y="174312"/>
            <a:ext cx="5374005" cy="382156"/>
          </a:xfrm>
          <a:prstGeom prst="rect">
            <a:avLst/>
          </a:prstGeom>
        </p:spPr>
        <p:txBody>
          <a:bodyPr vert="horz" wrap="square" lIns="0" tIns="12700" rIns="0" bIns="0" rtlCol="0">
            <a:spAutoFit/>
          </a:bodyPr>
          <a:lstStyle/>
          <a:p>
            <a:pPr marL="12700">
              <a:lnSpc>
                <a:spcPct val="100000"/>
              </a:lnSpc>
              <a:spcBef>
                <a:spcPts val="100"/>
              </a:spcBef>
            </a:pPr>
            <a:r>
              <a:rPr lang="en-IN" sz="2400" spc="-5" dirty="0">
                <a:solidFill>
                  <a:srgbClr val="FFFFFF"/>
                </a:solidFill>
              </a:rPr>
              <a:t>Implementation</a:t>
            </a:r>
            <a:r>
              <a:rPr lang="en-IN" sz="2400" spc="-60" dirty="0">
                <a:solidFill>
                  <a:srgbClr val="FFFFFF"/>
                </a:solidFill>
              </a:rPr>
              <a:t> </a:t>
            </a:r>
            <a:r>
              <a:rPr lang="en-IN" sz="2400" b="0" spc="-5" dirty="0">
                <a:solidFill>
                  <a:srgbClr val="FFFFFF"/>
                </a:solidFill>
                <a:latin typeface="Arial"/>
                <a:cs typeface="Arial"/>
              </a:rPr>
              <a:t>(Machine Learning)</a:t>
            </a:r>
            <a:endParaRPr sz="2400" dirty="0"/>
          </a:p>
        </p:txBody>
      </p:sp>
      <p:sp>
        <p:nvSpPr>
          <p:cNvPr id="6" name="object 6">
            <a:extLst>
              <a:ext uri="{FF2B5EF4-FFF2-40B4-BE49-F238E27FC236}">
                <a16:creationId xmlns:a16="http://schemas.microsoft.com/office/drawing/2014/main" id="{E5FF6E31-9151-8FD9-B778-DA03F034616C}"/>
              </a:ext>
            </a:extLst>
          </p:cNvPr>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pic>
        <p:nvPicPr>
          <p:cNvPr id="4" name="Picture 3">
            <a:extLst>
              <a:ext uri="{FF2B5EF4-FFF2-40B4-BE49-F238E27FC236}">
                <a16:creationId xmlns:a16="http://schemas.microsoft.com/office/drawing/2014/main" id="{26534D67-B490-AC0B-74A8-6D1ED0D63C5D}"/>
              </a:ext>
            </a:extLst>
          </p:cNvPr>
          <p:cNvPicPr>
            <a:picLocks noChangeAspect="1"/>
          </p:cNvPicPr>
          <p:nvPr/>
        </p:nvPicPr>
        <p:blipFill>
          <a:blip r:embed="rId2"/>
          <a:stretch>
            <a:fillRect/>
          </a:stretch>
        </p:blipFill>
        <p:spPr>
          <a:xfrm>
            <a:off x="80542" y="1982719"/>
            <a:ext cx="4499199" cy="3319460"/>
          </a:xfrm>
          <a:prstGeom prst="rect">
            <a:avLst/>
          </a:prstGeom>
        </p:spPr>
      </p:pic>
      <p:pic>
        <p:nvPicPr>
          <p:cNvPr id="7" name="Picture 6">
            <a:extLst>
              <a:ext uri="{FF2B5EF4-FFF2-40B4-BE49-F238E27FC236}">
                <a16:creationId xmlns:a16="http://schemas.microsoft.com/office/drawing/2014/main" id="{585D84C6-61E1-A51B-2488-E4AB4305B8B6}"/>
              </a:ext>
            </a:extLst>
          </p:cNvPr>
          <p:cNvPicPr>
            <a:picLocks noChangeAspect="1"/>
          </p:cNvPicPr>
          <p:nvPr/>
        </p:nvPicPr>
        <p:blipFill>
          <a:blip r:embed="rId3"/>
          <a:stretch>
            <a:fillRect/>
          </a:stretch>
        </p:blipFill>
        <p:spPr>
          <a:xfrm>
            <a:off x="4718282" y="1982718"/>
            <a:ext cx="4383776" cy="3253937"/>
          </a:xfrm>
          <a:prstGeom prst="rect">
            <a:avLst/>
          </a:prstGeom>
        </p:spPr>
      </p:pic>
    </p:spTree>
    <p:extLst>
      <p:ext uri="{BB962C8B-B14F-4D97-AF65-F5344CB8AC3E}">
        <p14:creationId xmlns:p14="http://schemas.microsoft.com/office/powerpoint/2010/main" val="3744033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5374005" cy="382156"/>
          </a:xfrm>
          <a:prstGeom prst="rect">
            <a:avLst/>
          </a:prstGeom>
        </p:spPr>
        <p:txBody>
          <a:bodyPr vert="horz" wrap="square" lIns="0" tIns="12700" rIns="0" bIns="0" rtlCol="0">
            <a:spAutoFit/>
          </a:bodyPr>
          <a:lstStyle/>
          <a:p>
            <a:pPr marL="12700">
              <a:lnSpc>
                <a:spcPct val="100000"/>
              </a:lnSpc>
              <a:spcBef>
                <a:spcPts val="100"/>
              </a:spcBef>
            </a:pPr>
            <a:r>
              <a:rPr lang="en-IN" sz="2400" spc="-5" dirty="0">
                <a:solidFill>
                  <a:srgbClr val="FFFFFF"/>
                </a:solidFill>
              </a:rPr>
              <a:t>Implementation</a:t>
            </a:r>
            <a:r>
              <a:rPr lang="en-IN" sz="2400" spc="-60" dirty="0">
                <a:solidFill>
                  <a:srgbClr val="FFFFFF"/>
                </a:solidFill>
              </a:rPr>
              <a:t> </a:t>
            </a:r>
            <a:r>
              <a:rPr lang="en-IN" sz="2400" b="0" spc="-5" dirty="0">
                <a:solidFill>
                  <a:srgbClr val="FFFFFF"/>
                </a:solidFill>
                <a:latin typeface="Arial"/>
                <a:cs typeface="Arial"/>
              </a:rPr>
              <a:t>(Machine Learning)</a:t>
            </a:r>
            <a:endParaRPr sz="2400" dirty="0"/>
          </a:p>
        </p:txBody>
      </p:sp>
      <p:sp>
        <p:nvSpPr>
          <p:cNvPr id="6" name="object 6"/>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graphicFrame>
        <p:nvGraphicFramePr>
          <p:cNvPr id="4" name="Table 3">
            <a:extLst>
              <a:ext uri="{FF2B5EF4-FFF2-40B4-BE49-F238E27FC236}">
                <a16:creationId xmlns:a16="http://schemas.microsoft.com/office/drawing/2014/main" id="{5608833A-3D3A-817E-A21D-020F87F40448}"/>
              </a:ext>
            </a:extLst>
          </p:cNvPr>
          <p:cNvGraphicFramePr>
            <a:graphicFrameLocks noGrp="1"/>
          </p:cNvGraphicFramePr>
          <p:nvPr>
            <p:extLst>
              <p:ext uri="{D42A27DB-BD31-4B8C-83A1-F6EECF244321}">
                <p14:modId xmlns:p14="http://schemas.microsoft.com/office/powerpoint/2010/main" val="3585934633"/>
              </p:ext>
            </p:extLst>
          </p:nvPr>
        </p:nvGraphicFramePr>
        <p:xfrm>
          <a:off x="219710" y="1738789"/>
          <a:ext cx="8704579" cy="3874416"/>
        </p:xfrm>
        <a:graphic>
          <a:graphicData uri="http://schemas.openxmlformats.org/drawingml/2006/table">
            <a:tbl>
              <a:tblPr firstRow="1" bandRow="1">
                <a:tableStyleId>{073A0DAA-6AF3-43AB-8588-CEC1D06C72B9}</a:tableStyleId>
              </a:tblPr>
              <a:tblGrid>
                <a:gridCol w="2176145">
                  <a:extLst>
                    <a:ext uri="{9D8B030D-6E8A-4147-A177-3AD203B41FA5}">
                      <a16:colId xmlns:a16="http://schemas.microsoft.com/office/drawing/2014/main" val="1777911682"/>
                    </a:ext>
                  </a:extLst>
                </a:gridCol>
                <a:gridCol w="1208969">
                  <a:extLst>
                    <a:ext uri="{9D8B030D-6E8A-4147-A177-3AD203B41FA5}">
                      <a16:colId xmlns:a16="http://schemas.microsoft.com/office/drawing/2014/main" val="3472168328"/>
                    </a:ext>
                  </a:extLst>
                </a:gridCol>
                <a:gridCol w="1450763">
                  <a:extLst>
                    <a:ext uri="{9D8B030D-6E8A-4147-A177-3AD203B41FA5}">
                      <a16:colId xmlns:a16="http://schemas.microsoft.com/office/drawing/2014/main" val="3536154693"/>
                    </a:ext>
                  </a:extLst>
                </a:gridCol>
                <a:gridCol w="1208969">
                  <a:extLst>
                    <a:ext uri="{9D8B030D-6E8A-4147-A177-3AD203B41FA5}">
                      <a16:colId xmlns:a16="http://schemas.microsoft.com/office/drawing/2014/main" val="679076721"/>
                    </a:ext>
                  </a:extLst>
                </a:gridCol>
                <a:gridCol w="1370165">
                  <a:extLst>
                    <a:ext uri="{9D8B030D-6E8A-4147-A177-3AD203B41FA5}">
                      <a16:colId xmlns:a16="http://schemas.microsoft.com/office/drawing/2014/main" val="4123771382"/>
                    </a:ext>
                  </a:extLst>
                </a:gridCol>
                <a:gridCol w="1289568">
                  <a:extLst>
                    <a:ext uri="{9D8B030D-6E8A-4147-A177-3AD203B41FA5}">
                      <a16:colId xmlns:a16="http://schemas.microsoft.com/office/drawing/2014/main" val="819260446"/>
                    </a:ext>
                  </a:extLst>
                </a:gridCol>
              </a:tblGrid>
              <a:tr h="623411">
                <a:tc>
                  <a:txBody>
                    <a:bodyPr/>
                    <a:lstStyle/>
                    <a:p>
                      <a:pPr algn="ctr"/>
                      <a:r>
                        <a:rPr lang="en-US" sz="2000" dirty="0"/>
                        <a:t>Model</a:t>
                      </a:r>
                      <a:endParaRPr lang="en-IN" sz="2000" dirty="0"/>
                    </a:p>
                  </a:txBody>
                  <a:tcPr anchor="ctr"/>
                </a:tc>
                <a:tc>
                  <a:txBody>
                    <a:bodyPr/>
                    <a:lstStyle/>
                    <a:p>
                      <a:pPr algn="ctr"/>
                      <a:r>
                        <a:rPr lang="en-US" sz="2000" dirty="0"/>
                        <a:t>Accuracy</a:t>
                      </a:r>
                      <a:endParaRPr lang="en-IN" sz="2000" dirty="0"/>
                    </a:p>
                  </a:txBody>
                  <a:tcPr anchor="ctr"/>
                </a:tc>
                <a:tc>
                  <a:txBody>
                    <a:bodyPr/>
                    <a:lstStyle/>
                    <a:p>
                      <a:pPr algn="ctr"/>
                      <a:r>
                        <a:rPr lang="en-US" sz="2000" dirty="0"/>
                        <a:t>Precision</a:t>
                      </a:r>
                      <a:endParaRPr lang="en-IN" sz="2000" dirty="0"/>
                    </a:p>
                  </a:txBody>
                  <a:tcPr anchor="ctr"/>
                </a:tc>
                <a:tc>
                  <a:txBody>
                    <a:bodyPr/>
                    <a:lstStyle/>
                    <a:p>
                      <a:pPr algn="ctr"/>
                      <a:r>
                        <a:rPr lang="en-US" sz="2000" dirty="0"/>
                        <a:t>Recall</a:t>
                      </a:r>
                      <a:endParaRPr lang="en-IN" sz="2000" dirty="0"/>
                    </a:p>
                  </a:txBody>
                  <a:tcPr anchor="ctr"/>
                </a:tc>
                <a:tc>
                  <a:txBody>
                    <a:bodyPr/>
                    <a:lstStyle/>
                    <a:p>
                      <a:pPr algn="ctr"/>
                      <a:r>
                        <a:rPr lang="en-US" sz="2000" dirty="0"/>
                        <a:t>F1 Score</a:t>
                      </a:r>
                      <a:endParaRPr lang="en-IN" sz="2000" dirty="0"/>
                    </a:p>
                  </a:txBody>
                  <a:tcPr anchor="ctr"/>
                </a:tc>
                <a:tc>
                  <a:txBody>
                    <a:bodyPr/>
                    <a:lstStyle/>
                    <a:p>
                      <a:pPr algn="ctr"/>
                      <a:r>
                        <a:rPr lang="en-US" sz="2000" dirty="0"/>
                        <a:t>ROC-AUC</a:t>
                      </a:r>
                      <a:endParaRPr lang="en-IN" sz="2000" dirty="0"/>
                    </a:p>
                  </a:txBody>
                  <a:tcPr anchor="ctr"/>
                </a:tc>
                <a:extLst>
                  <a:ext uri="{0D108BD9-81ED-4DB2-BD59-A6C34878D82A}">
                    <a16:rowId xmlns:a16="http://schemas.microsoft.com/office/drawing/2014/main" val="332254309"/>
                  </a:ext>
                </a:extLst>
              </a:tr>
              <a:tr h="570426">
                <a:tc>
                  <a:txBody>
                    <a:bodyPr/>
                    <a:lstStyle/>
                    <a:p>
                      <a:pPr algn="ctr"/>
                      <a:r>
                        <a:rPr lang="en-US" sz="2000" b="1" dirty="0"/>
                        <a:t>Logistic Regression</a:t>
                      </a:r>
                      <a:endParaRPr lang="en-IN" sz="2000" b="1" dirty="0"/>
                    </a:p>
                  </a:txBody>
                  <a:tcPr anchor="ctr"/>
                </a:tc>
                <a:tc>
                  <a:txBody>
                    <a:bodyPr/>
                    <a:lstStyle/>
                    <a:p>
                      <a:pPr algn="ctr"/>
                      <a:r>
                        <a:rPr lang="en-IN" sz="2000" dirty="0"/>
                        <a:t>0.882</a:t>
                      </a:r>
                    </a:p>
                  </a:txBody>
                  <a:tcPr anchor="ctr"/>
                </a:tc>
                <a:tc>
                  <a:txBody>
                    <a:bodyPr/>
                    <a:lstStyle/>
                    <a:p>
                      <a:pPr algn="ctr"/>
                      <a:r>
                        <a:rPr lang="en-IN" sz="2000" dirty="0"/>
                        <a:t>0.882</a:t>
                      </a:r>
                    </a:p>
                  </a:txBody>
                  <a:tcPr anchor="ctr"/>
                </a:tc>
                <a:tc>
                  <a:txBody>
                    <a:bodyPr/>
                    <a:lstStyle/>
                    <a:p>
                      <a:pPr algn="ctr"/>
                      <a:r>
                        <a:rPr lang="en-IN" sz="2000" dirty="0"/>
                        <a:t>0.882</a:t>
                      </a:r>
                    </a:p>
                  </a:txBody>
                  <a:tcPr anchor="ctr"/>
                </a:tc>
                <a:tc>
                  <a:txBody>
                    <a:bodyPr/>
                    <a:lstStyle/>
                    <a:p>
                      <a:pPr algn="ctr"/>
                      <a:r>
                        <a:rPr lang="en-IN" sz="2000" dirty="0"/>
                        <a:t>0.882</a:t>
                      </a:r>
                    </a:p>
                  </a:txBody>
                  <a:tcPr anchor="ctr"/>
                </a:tc>
                <a:tc>
                  <a:txBody>
                    <a:bodyPr/>
                    <a:lstStyle/>
                    <a:p>
                      <a:pPr algn="ctr"/>
                      <a:r>
                        <a:rPr lang="en-IN" sz="2000" dirty="0"/>
                        <a:t>0.965</a:t>
                      </a:r>
                    </a:p>
                  </a:txBody>
                  <a:tcPr anchor="ctr"/>
                </a:tc>
                <a:extLst>
                  <a:ext uri="{0D108BD9-81ED-4DB2-BD59-A6C34878D82A}">
                    <a16:rowId xmlns:a16="http://schemas.microsoft.com/office/drawing/2014/main" val="2170807693"/>
                  </a:ext>
                </a:extLst>
              </a:tr>
              <a:tr h="503938">
                <a:tc>
                  <a:txBody>
                    <a:bodyPr/>
                    <a:lstStyle/>
                    <a:p>
                      <a:pPr algn="ctr"/>
                      <a:r>
                        <a:rPr lang="en-US" sz="2000" b="1" dirty="0"/>
                        <a:t>Random Forest</a:t>
                      </a:r>
                      <a:endParaRPr lang="en-IN" sz="2000" b="1" dirty="0"/>
                    </a:p>
                  </a:txBody>
                  <a:tcPr anchor="ctr"/>
                </a:tc>
                <a:tc>
                  <a:txBody>
                    <a:bodyPr/>
                    <a:lstStyle/>
                    <a:p>
                      <a:pPr algn="ctr"/>
                      <a:r>
                        <a:rPr lang="en-US" sz="2000" dirty="0"/>
                        <a:t>0.891</a:t>
                      </a:r>
                      <a:endParaRPr lang="en-IN" sz="2000" dirty="0"/>
                    </a:p>
                  </a:txBody>
                  <a:tcPr anchor="ctr"/>
                </a:tc>
                <a:tc>
                  <a:txBody>
                    <a:bodyPr/>
                    <a:lstStyle/>
                    <a:p>
                      <a:pPr algn="ctr"/>
                      <a:r>
                        <a:rPr lang="en-IN" sz="2000" dirty="0"/>
                        <a:t>0.893</a:t>
                      </a:r>
                    </a:p>
                  </a:txBody>
                  <a:tcPr anchor="ctr"/>
                </a:tc>
                <a:tc>
                  <a:txBody>
                    <a:bodyPr/>
                    <a:lstStyle/>
                    <a:p>
                      <a:pPr algn="ctr"/>
                      <a:r>
                        <a:rPr lang="en-IN" sz="2000" dirty="0"/>
                        <a:t>0.891</a:t>
                      </a:r>
                    </a:p>
                  </a:txBody>
                  <a:tcPr anchor="ctr"/>
                </a:tc>
                <a:tc>
                  <a:txBody>
                    <a:bodyPr/>
                    <a:lstStyle/>
                    <a:p>
                      <a:pPr algn="ctr"/>
                      <a:r>
                        <a:rPr lang="en-IN" sz="2000" dirty="0"/>
                        <a:t>0.891</a:t>
                      </a:r>
                    </a:p>
                  </a:txBody>
                  <a:tcPr anchor="ctr"/>
                </a:tc>
                <a:tc>
                  <a:txBody>
                    <a:bodyPr/>
                    <a:lstStyle/>
                    <a:p>
                      <a:pPr algn="ctr"/>
                      <a:r>
                        <a:rPr lang="en-IN" sz="2000" dirty="0"/>
                        <a:t>0.983</a:t>
                      </a:r>
                    </a:p>
                  </a:txBody>
                  <a:tcPr anchor="ctr"/>
                </a:tc>
                <a:extLst>
                  <a:ext uri="{0D108BD9-81ED-4DB2-BD59-A6C34878D82A}">
                    <a16:rowId xmlns:a16="http://schemas.microsoft.com/office/drawing/2014/main" val="3184816819"/>
                  </a:ext>
                </a:extLst>
              </a:tr>
              <a:tr h="687868">
                <a:tc>
                  <a:txBody>
                    <a:bodyPr/>
                    <a:lstStyle/>
                    <a:p>
                      <a:pPr algn="ctr"/>
                      <a:r>
                        <a:rPr lang="en-US" sz="2000" b="1" dirty="0"/>
                        <a:t>Support Vector Machine (SVM)</a:t>
                      </a:r>
                      <a:endParaRPr lang="en-IN" sz="2000" b="1" dirty="0"/>
                    </a:p>
                  </a:txBody>
                  <a:tcPr anchor="ctr"/>
                </a:tc>
                <a:tc>
                  <a:txBody>
                    <a:bodyPr/>
                    <a:lstStyle/>
                    <a:p>
                      <a:pPr algn="ctr"/>
                      <a:r>
                        <a:rPr lang="en-IN" sz="2000" dirty="0"/>
                        <a:t>0.877</a:t>
                      </a:r>
                    </a:p>
                  </a:txBody>
                  <a:tcPr anchor="ctr"/>
                </a:tc>
                <a:tc>
                  <a:txBody>
                    <a:bodyPr/>
                    <a:lstStyle/>
                    <a:p>
                      <a:pPr algn="ctr"/>
                      <a:r>
                        <a:rPr lang="en-IN" sz="2000" dirty="0"/>
                        <a:t>0.877</a:t>
                      </a:r>
                    </a:p>
                  </a:txBody>
                  <a:tcPr anchor="ctr"/>
                </a:tc>
                <a:tc>
                  <a:txBody>
                    <a:bodyPr/>
                    <a:lstStyle/>
                    <a:p>
                      <a:pPr algn="ctr"/>
                      <a:r>
                        <a:rPr lang="en-IN" sz="2000" dirty="0"/>
                        <a:t>0.877</a:t>
                      </a:r>
                    </a:p>
                  </a:txBody>
                  <a:tcPr anchor="ctr"/>
                </a:tc>
                <a:tc>
                  <a:txBody>
                    <a:bodyPr/>
                    <a:lstStyle/>
                    <a:p>
                      <a:pPr algn="ctr"/>
                      <a:r>
                        <a:rPr lang="en-IN" sz="2000" dirty="0"/>
                        <a:t>0.877</a:t>
                      </a:r>
                    </a:p>
                  </a:txBody>
                  <a:tcPr anchor="ctr"/>
                </a:tc>
                <a:tc>
                  <a:txBody>
                    <a:bodyPr/>
                    <a:lstStyle/>
                    <a:p>
                      <a:pPr algn="ctr"/>
                      <a:r>
                        <a:rPr lang="en-IN" sz="2000" dirty="0"/>
                        <a:t>0.974</a:t>
                      </a:r>
                    </a:p>
                  </a:txBody>
                  <a:tcPr anchor="ctr"/>
                </a:tc>
                <a:extLst>
                  <a:ext uri="{0D108BD9-81ED-4DB2-BD59-A6C34878D82A}">
                    <a16:rowId xmlns:a16="http://schemas.microsoft.com/office/drawing/2014/main" val="3623560191"/>
                  </a:ext>
                </a:extLst>
              </a:tr>
              <a:tr h="469761">
                <a:tc>
                  <a:txBody>
                    <a:bodyPr/>
                    <a:lstStyle/>
                    <a:p>
                      <a:pPr algn="ctr"/>
                      <a:r>
                        <a:rPr lang="en-US" sz="2000" b="1" dirty="0"/>
                        <a:t>Decision Tree</a:t>
                      </a:r>
                    </a:p>
                  </a:txBody>
                  <a:tcPr anchor="ctr"/>
                </a:tc>
                <a:tc>
                  <a:txBody>
                    <a:bodyPr/>
                    <a:lstStyle/>
                    <a:p>
                      <a:pPr algn="ctr"/>
                      <a:r>
                        <a:rPr lang="en-IN" sz="2000" dirty="0"/>
                        <a:t>0.855</a:t>
                      </a:r>
                    </a:p>
                  </a:txBody>
                  <a:tcPr anchor="ctr"/>
                </a:tc>
                <a:tc>
                  <a:txBody>
                    <a:bodyPr/>
                    <a:lstStyle/>
                    <a:p>
                      <a:pPr algn="ctr"/>
                      <a:r>
                        <a:rPr lang="en-IN" sz="2000" dirty="0"/>
                        <a:t>0.855</a:t>
                      </a:r>
                    </a:p>
                  </a:txBody>
                  <a:tcPr anchor="ctr"/>
                </a:tc>
                <a:tc>
                  <a:txBody>
                    <a:bodyPr/>
                    <a:lstStyle/>
                    <a:p>
                      <a:pPr algn="ctr"/>
                      <a:r>
                        <a:rPr lang="en-IN" sz="2000" dirty="0"/>
                        <a:t>0.855</a:t>
                      </a:r>
                    </a:p>
                  </a:txBody>
                  <a:tcPr anchor="ctr"/>
                </a:tc>
                <a:tc>
                  <a:txBody>
                    <a:bodyPr/>
                    <a:lstStyle/>
                    <a:p>
                      <a:pPr algn="ctr"/>
                      <a:r>
                        <a:rPr lang="en-IN" sz="2000" dirty="0"/>
                        <a:t>0.855</a:t>
                      </a:r>
                    </a:p>
                  </a:txBody>
                  <a:tcPr anchor="ctr"/>
                </a:tc>
                <a:tc>
                  <a:txBody>
                    <a:bodyPr/>
                    <a:lstStyle/>
                    <a:p>
                      <a:pPr algn="ctr"/>
                      <a:r>
                        <a:rPr lang="en-IN" sz="2000" dirty="0"/>
                        <a:t>0.891</a:t>
                      </a:r>
                    </a:p>
                  </a:txBody>
                  <a:tcPr anchor="ctr"/>
                </a:tc>
                <a:extLst>
                  <a:ext uri="{0D108BD9-81ED-4DB2-BD59-A6C34878D82A}">
                    <a16:rowId xmlns:a16="http://schemas.microsoft.com/office/drawing/2014/main" val="2740699248"/>
                  </a:ext>
                </a:extLst>
              </a:tr>
              <a:tr h="687868">
                <a:tc>
                  <a:txBody>
                    <a:bodyPr/>
                    <a:lstStyle/>
                    <a:p>
                      <a:pPr algn="ctr"/>
                      <a:r>
                        <a:rPr lang="en-US" sz="2000" b="1" dirty="0"/>
                        <a:t>K-Nearest Neighbors</a:t>
                      </a:r>
                      <a:br>
                        <a:rPr lang="en-US" sz="2000" b="1" dirty="0"/>
                      </a:br>
                      <a:r>
                        <a:rPr lang="en-US" sz="2000" b="1" dirty="0"/>
                        <a:t>(KNN)</a:t>
                      </a:r>
                      <a:endParaRPr lang="en-IN" sz="2000" b="1" dirty="0"/>
                    </a:p>
                  </a:txBody>
                  <a:tcPr anchor="ctr"/>
                </a:tc>
                <a:tc>
                  <a:txBody>
                    <a:bodyPr/>
                    <a:lstStyle/>
                    <a:p>
                      <a:pPr algn="ctr"/>
                      <a:r>
                        <a:rPr lang="en-IN" sz="2000" dirty="0"/>
                        <a:t>0.850</a:t>
                      </a:r>
                    </a:p>
                  </a:txBody>
                  <a:tcPr anchor="ctr"/>
                </a:tc>
                <a:tc>
                  <a:txBody>
                    <a:bodyPr/>
                    <a:lstStyle/>
                    <a:p>
                      <a:pPr algn="ctr"/>
                      <a:r>
                        <a:rPr lang="en-IN" sz="2000" dirty="0"/>
                        <a:t>0.852</a:t>
                      </a:r>
                    </a:p>
                  </a:txBody>
                  <a:tcPr anchor="ctr"/>
                </a:tc>
                <a:tc>
                  <a:txBody>
                    <a:bodyPr/>
                    <a:lstStyle/>
                    <a:p>
                      <a:pPr algn="ctr"/>
                      <a:r>
                        <a:rPr lang="en-IN" sz="2000" dirty="0"/>
                        <a:t>0.850</a:t>
                      </a:r>
                    </a:p>
                  </a:txBody>
                  <a:tcPr anchor="ctr"/>
                </a:tc>
                <a:tc>
                  <a:txBody>
                    <a:bodyPr/>
                    <a:lstStyle/>
                    <a:p>
                      <a:pPr algn="ctr"/>
                      <a:r>
                        <a:rPr lang="en-IN" sz="2000" dirty="0"/>
                        <a:t>0.850</a:t>
                      </a:r>
                    </a:p>
                  </a:txBody>
                  <a:tcPr anchor="ctr"/>
                </a:tc>
                <a:tc>
                  <a:txBody>
                    <a:bodyPr/>
                    <a:lstStyle/>
                    <a:p>
                      <a:pPr algn="ctr"/>
                      <a:r>
                        <a:rPr lang="en-IN" sz="2000" dirty="0"/>
                        <a:t>0.953</a:t>
                      </a:r>
                    </a:p>
                  </a:txBody>
                  <a:tcPr anchor="ctr"/>
                </a:tc>
                <a:extLst>
                  <a:ext uri="{0D108BD9-81ED-4DB2-BD59-A6C34878D82A}">
                    <a16:rowId xmlns:a16="http://schemas.microsoft.com/office/drawing/2014/main" val="1436991814"/>
                  </a:ext>
                </a:extLst>
              </a:tr>
            </a:tbl>
          </a:graphicData>
        </a:graphic>
      </p:graphicFrame>
      <p:sp>
        <p:nvSpPr>
          <p:cNvPr id="18" name="TextBox 17">
            <a:extLst>
              <a:ext uri="{FF2B5EF4-FFF2-40B4-BE49-F238E27FC236}">
                <a16:creationId xmlns:a16="http://schemas.microsoft.com/office/drawing/2014/main" id="{1D60B04A-4DD6-B281-57CA-3B4DF1C5E418}"/>
              </a:ext>
            </a:extLst>
          </p:cNvPr>
          <p:cNvSpPr txBox="1"/>
          <p:nvPr/>
        </p:nvSpPr>
        <p:spPr>
          <a:xfrm>
            <a:off x="183781" y="1254248"/>
            <a:ext cx="7086600" cy="369332"/>
          </a:xfrm>
          <a:prstGeom prst="rect">
            <a:avLst/>
          </a:prstGeom>
          <a:noFill/>
        </p:spPr>
        <p:txBody>
          <a:bodyPr wrap="square">
            <a:spAutoFit/>
          </a:bodyPr>
          <a:lstStyle/>
          <a:p>
            <a:r>
              <a:rPr lang="en-IN" b="1" dirty="0"/>
              <a:t>Table 1: Performance Comparison of Various  Models</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7180580" cy="382156"/>
          </a:xfrm>
          <a:prstGeom prst="rect">
            <a:avLst/>
          </a:prstGeom>
        </p:spPr>
        <p:txBody>
          <a:bodyPr vert="horz" wrap="square" lIns="0" tIns="12700" rIns="0" bIns="0" rtlCol="0">
            <a:spAutoFit/>
          </a:bodyPr>
          <a:lstStyle/>
          <a:p>
            <a:pPr marL="12700">
              <a:lnSpc>
                <a:spcPct val="100000"/>
              </a:lnSpc>
              <a:spcBef>
                <a:spcPts val="100"/>
              </a:spcBef>
            </a:pPr>
            <a:r>
              <a:rPr lang="en-IN" sz="2400" spc="-5" dirty="0">
                <a:solidFill>
                  <a:srgbClr val="FFFFFF"/>
                </a:solidFill>
              </a:rPr>
              <a:t>Experimental Results and</a:t>
            </a:r>
            <a:r>
              <a:rPr lang="en-IN" sz="2400" spc="-35" dirty="0">
                <a:solidFill>
                  <a:srgbClr val="FFFFFF"/>
                </a:solidFill>
              </a:rPr>
              <a:t> </a:t>
            </a:r>
            <a:r>
              <a:rPr lang="en-IN" sz="2400" spc="-5" dirty="0">
                <a:solidFill>
                  <a:srgbClr val="FFFFFF"/>
                </a:solidFill>
              </a:rPr>
              <a:t>Evaluation</a:t>
            </a:r>
            <a:endParaRPr lang="en-IN" sz="2400" dirty="0">
              <a:latin typeface="Arial"/>
              <a:cs typeface="Arial"/>
            </a:endParaRPr>
          </a:p>
        </p:txBody>
      </p:sp>
      <p:sp>
        <p:nvSpPr>
          <p:cNvPr id="4" name="object 4"/>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sp>
        <p:nvSpPr>
          <p:cNvPr id="3" name="object 3"/>
          <p:cNvSpPr txBox="1"/>
          <p:nvPr/>
        </p:nvSpPr>
        <p:spPr>
          <a:xfrm>
            <a:off x="381000" y="3441032"/>
            <a:ext cx="8077200" cy="2646878"/>
          </a:xfrm>
          <a:prstGeom prst="rect">
            <a:avLst/>
          </a:prstGeom>
        </p:spPr>
        <p:txBody>
          <a:bodyPr vert="horz" wrap="square" lIns="0" tIns="152400" rIns="0" bIns="0" rtlCol="0">
            <a:spAutoFit/>
          </a:bodyPr>
          <a:lstStyle/>
          <a:p>
            <a:r>
              <a:rPr lang="en-US" b="1" dirty="0"/>
              <a:t>Selected Model: </a:t>
            </a:r>
            <a:r>
              <a:rPr lang="en-US" dirty="0"/>
              <a:t>Random Forest Classifier</a:t>
            </a:r>
          </a:p>
          <a:p>
            <a:pPr>
              <a:buNone/>
            </a:pPr>
            <a:br>
              <a:rPr lang="en-US" b="1" dirty="0"/>
            </a:br>
            <a:r>
              <a:rPr lang="en-US" b="1" dirty="0"/>
              <a:t>Why Random Forest was selected:</a:t>
            </a:r>
            <a:endParaRPr lang="en-US" dirty="0"/>
          </a:p>
          <a:p>
            <a:pPr marL="285750" indent="-285750">
              <a:buFont typeface="Arial" panose="020B0604020202020204" pitchFamily="34" charset="0"/>
              <a:buChar char="•"/>
            </a:pPr>
            <a:r>
              <a:rPr lang="en-US" dirty="0"/>
              <a:t>Random forest handles nonlinear relationships </a:t>
            </a:r>
          </a:p>
          <a:p>
            <a:pPr marL="285750" indent="-285750">
              <a:buFont typeface="Arial" panose="020B0604020202020204" pitchFamily="34" charset="0"/>
              <a:buChar char="•"/>
            </a:pPr>
            <a:r>
              <a:rPr lang="en-US" dirty="0"/>
              <a:t>It also works well with mixed features</a:t>
            </a:r>
          </a:p>
          <a:p>
            <a:pPr marL="285750" indent="-285750">
              <a:buFont typeface="Arial" panose="020B0604020202020204" pitchFamily="34" charset="0"/>
              <a:buChar char="•"/>
            </a:pPr>
            <a:r>
              <a:rPr lang="en-US" dirty="0"/>
              <a:t>It has a Robust and stable performance across different data samples.</a:t>
            </a:r>
            <a:endParaRPr lang="en-US" sz="1400" i="1" dirty="0"/>
          </a:p>
          <a:p>
            <a:pPr marL="285750" indent="-285750">
              <a:buFont typeface="Arial" panose="020B0604020202020204" pitchFamily="34" charset="0"/>
              <a:buChar char="•"/>
            </a:pPr>
            <a:endParaRPr lang="en-US" dirty="0"/>
          </a:p>
          <a:p>
            <a:r>
              <a:rPr lang="en-US" dirty="0"/>
              <a:t>In summary, Random Forest achieved the highest accuracy and was selected as the final model due to its strong performance and ability to handle nonlinear relationships.</a:t>
            </a:r>
          </a:p>
        </p:txBody>
      </p:sp>
      <p:sp>
        <p:nvSpPr>
          <p:cNvPr id="15" name="TextBox 14">
            <a:extLst>
              <a:ext uri="{FF2B5EF4-FFF2-40B4-BE49-F238E27FC236}">
                <a16:creationId xmlns:a16="http://schemas.microsoft.com/office/drawing/2014/main" id="{E9707933-6C39-3208-9B55-B7689377EF40}"/>
              </a:ext>
            </a:extLst>
          </p:cNvPr>
          <p:cNvSpPr txBox="1"/>
          <p:nvPr/>
        </p:nvSpPr>
        <p:spPr>
          <a:xfrm>
            <a:off x="210820" y="854552"/>
            <a:ext cx="8704579" cy="2542363"/>
          </a:xfrm>
          <a:prstGeom prst="rect">
            <a:avLst/>
          </a:prstGeom>
          <a:noFill/>
        </p:spPr>
        <p:txBody>
          <a:bodyPr wrap="square">
            <a:spAutoFit/>
          </a:bodyPr>
          <a:lstStyle/>
          <a:p>
            <a:pPr>
              <a:lnSpc>
                <a:spcPct val="150000"/>
              </a:lnSpc>
              <a:buNone/>
            </a:pPr>
            <a:r>
              <a:rPr lang="en-US" b="1" dirty="0"/>
              <a:t>Key Observation</a:t>
            </a:r>
          </a:p>
          <a:p>
            <a:pPr marL="285750" indent="-285750">
              <a:lnSpc>
                <a:spcPct val="150000"/>
              </a:lnSpc>
              <a:buFont typeface="Arial" panose="020B0604020202020204" pitchFamily="34" charset="0"/>
              <a:buChar char="•"/>
            </a:pPr>
            <a:r>
              <a:rPr lang="en-US" dirty="0"/>
              <a:t>Random Forest achieved the highest classification accuracy (0.891).</a:t>
            </a:r>
          </a:p>
          <a:p>
            <a:pPr marL="285750" indent="-285750">
              <a:lnSpc>
                <a:spcPct val="150000"/>
              </a:lnSpc>
              <a:buFont typeface="Arial" panose="020B0604020202020204" pitchFamily="34" charset="0"/>
              <a:buChar char="•"/>
            </a:pPr>
            <a:r>
              <a:rPr lang="en-US" dirty="0"/>
              <a:t>Logistic Regression and SVM also showed strong performance with similar scores.</a:t>
            </a:r>
          </a:p>
          <a:p>
            <a:pPr marL="285750" indent="-285750">
              <a:lnSpc>
                <a:spcPct val="150000"/>
              </a:lnSpc>
              <a:buFont typeface="Arial" panose="020B0604020202020204" pitchFamily="34" charset="0"/>
              <a:buChar char="•"/>
            </a:pPr>
            <a:r>
              <a:rPr lang="en-US" dirty="0"/>
              <a:t>Decision Tree and KNN performed slightly lower due to weaker generalization.</a:t>
            </a:r>
          </a:p>
          <a:p>
            <a:pPr marL="285750" indent="-285750">
              <a:lnSpc>
                <a:spcPct val="150000"/>
              </a:lnSpc>
              <a:buFont typeface="Arial" panose="020B0604020202020204" pitchFamily="34" charset="0"/>
              <a:buChar char="•"/>
            </a:pPr>
            <a:r>
              <a:rPr lang="en-US" dirty="0"/>
              <a:t>Ensemble methods such as Random Forest handle nonlinear feature relationships effectively, making them suitable for stress prediction.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2CCD6-0DBF-1831-53BD-A5322509BC9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4612FEC-F4ED-ACB8-28D0-C1431A48705D}"/>
              </a:ext>
            </a:extLst>
          </p:cNvPr>
          <p:cNvSpPr txBox="1">
            <a:spLocks noGrp="1"/>
          </p:cNvSpPr>
          <p:nvPr>
            <p:ph type="title"/>
          </p:nvPr>
        </p:nvSpPr>
        <p:spPr>
          <a:xfrm>
            <a:off x="210820" y="174312"/>
            <a:ext cx="2837180" cy="382156"/>
          </a:xfrm>
          <a:prstGeom prst="rect">
            <a:avLst/>
          </a:prstGeom>
        </p:spPr>
        <p:txBody>
          <a:bodyPr vert="horz" wrap="square" lIns="0" tIns="12700" rIns="0" bIns="0" rtlCol="0">
            <a:spAutoFit/>
          </a:bodyPr>
          <a:lstStyle/>
          <a:p>
            <a:pPr marL="12700">
              <a:lnSpc>
                <a:spcPct val="100000"/>
              </a:lnSpc>
              <a:spcBef>
                <a:spcPts val="100"/>
              </a:spcBef>
            </a:pPr>
            <a:r>
              <a:rPr lang="en-US" sz="2400" spc="-10" dirty="0">
                <a:solidFill>
                  <a:srgbClr val="FFFFFF"/>
                </a:solidFill>
              </a:rPr>
              <a:t>Prototype - UI</a:t>
            </a:r>
            <a:endParaRPr sz="2400" dirty="0"/>
          </a:p>
        </p:txBody>
      </p:sp>
      <p:sp>
        <p:nvSpPr>
          <p:cNvPr id="4" name="object 4">
            <a:extLst>
              <a:ext uri="{FF2B5EF4-FFF2-40B4-BE49-F238E27FC236}">
                <a16:creationId xmlns:a16="http://schemas.microsoft.com/office/drawing/2014/main" id="{32DDBA91-074E-DF02-D1DA-E857A5B428D6}"/>
              </a:ext>
            </a:extLst>
          </p:cNvPr>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pic>
        <p:nvPicPr>
          <p:cNvPr id="6" name="Picture 5">
            <a:extLst>
              <a:ext uri="{FF2B5EF4-FFF2-40B4-BE49-F238E27FC236}">
                <a16:creationId xmlns:a16="http://schemas.microsoft.com/office/drawing/2014/main" id="{13BE158E-0889-1E7B-96E5-48C7FD1456AA}"/>
              </a:ext>
            </a:extLst>
          </p:cNvPr>
          <p:cNvPicPr>
            <a:picLocks noChangeAspect="1"/>
          </p:cNvPicPr>
          <p:nvPr/>
        </p:nvPicPr>
        <p:blipFill>
          <a:blip r:embed="rId2"/>
          <a:stretch>
            <a:fillRect/>
          </a:stretch>
        </p:blipFill>
        <p:spPr>
          <a:xfrm>
            <a:off x="1307933" y="914399"/>
            <a:ext cx="6528134" cy="2845211"/>
          </a:xfrm>
          <a:prstGeom prst="rect">
            <a:avLst/>
          </a:prstGeom>
        </p:spPr>
      </p:pic>
      <p:pic>
        <p:nvPicPr>
          <p:cNvPr id="8" name="Picture 7">
            <a:extLst>
              <a:ext uri="{FF2B5EF4-FFF2-40B4-BE49-F238E27FC236}">
                <a16:creationId xmlns:a16="http://schemas.microsoft.com/office/drawing/2014/main" id="{13ADD55A-86F4-524A-7CAC-41AC1761A2E5}"/>
              </a:ext>
            </a:extLst>
          </p:cNvPr>
          <p:cNvPicPr>
            <a:picLocks noChangeAspect="1"/>
          </p:cNvPicPr>
          <p:nvPr/>
        </p:nvPicPr>
        <p:blipFill>
          <a:blip r:embed="rId3"/>
          <a:stretch>
            <a:fillRect/>
          </a:stretch>
        </p:blipFill>
        <p:spPr>
          <a:xfrm>
            <a:off x="1307933" y="3759610"/>
            <a:ext cx="6528135" cy="2564989"/>
          </a:xfrm>
          <a:prstGeom prst="rect">
            <a:avLst/>
          </a:prstGeom>
        </p:spPr>
      </p:pic>
    </p:spTree>
    <p:extLst>
      <p:ext uri="{BB962C8B-B14F-4D97-AF65-F5344CB8AC3E}">
        <p14:creationId xmlns:p14="http://schemas.microsoft.com/office/powerpoint/2010/main" val="1223796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654304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rPr>
              <a:t>Experimental </a:t>
            </a:r>
            <a:r>
              <a:rPr lang="en-US" sz="2400" spc="-5" dirty="0">
                <a:solidFill>
                  <a:srgbClr val="FFFFFF"/>
                </a:solidFill>
              </a:rPr>
              <a:t>Analysis</a:t>
            </a:r>
            <a:endParaRPr sz="2400" dirty="0">
              <a:latin typeface="Arial"/>
              <a:cs typeface="Arial"/>
            </a:endParaRPr>
          </a:p>
        </p:txBody>
      </p:sp>
      <p:sp>
        <p:nvSpPr>
          <p:cNvPr id="6" name="object 6"/>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sp>
        <p:nvSpPr>
          <p:cNvPr id="4" name="object 4"/>
          <p:cNvSpPr txBox="1"/>
          <p:nvPr/>
        </p:nvSpPr>
        <p:spPr>
          <a:xfrm>
            <a:off x="251870" y="778187"/>
            <a:ext cx="8511130" cy="4681410"/>
          </a:xfrm>
          <a:prstGeom prst="rect">
            <a:avLst/>
          </a:prstGeom>
        </p:spPr>
        <p:txBody>
          <a:bodyPr vert="horz" wrap="square" lIns="0" tIns="152400" rIns="0" bIns="0" rtlCol="0">
            <a:spAutoFit/>
          </a:bodyPr>
          <a:lstStyle/>
          <a:p>
            <a:pPr>
              <a:lnSpc>
                <a:spcPct val="150000"/>
              </a:lnSpc>
              <a:buNone/>
            </a:pPr>
            <a:r>
              <a:rPr lang="en-US" dirty="0"/>
              <a:t>The experimental results demonstrate that machine learning models can effectively classify stress levels based on behavioural and emotional features.</a:t>
            </a:r>
          </a:p>
          <a:p>
            <a:pPr>
              <a:lnSpc>
                <a:spcPct val="150000"/>
              </a:lnSpc>
              <a:buNone/>
            </a:pPr>
            <a:endParaRPr lang="en-US" dirty="0"/>
          </a:p>
          <a:p>
            <a:pPr>
              <a:lnSpc>
                <a:spcPct val="150000"/>
              </a:lnSpc>
              <a:buNone/>
            </a:pPr>
            <a:r>
              <a:rPr lang="en-US" dirty="0"/>
              <a:t>Key findings:</a:t>
            </a:r>
          </a:p>
          <a:p>
            <a:pPr marL="285750" indent="-285750">
              <a:lnSpc>
                <a:spcPct val="150000"/>
              </a:lnSpc>
              <a:buFont typeface="Arial" panose="020B0604020202020204" pitchFamily="34" charset="0"/>
              <a:buChar char="•"/>
            </a:pPr>
            <a:r>
              <a:rPr lang="en-US" dirty="0"/>
              <a:t>Random Forest achieved the highest classification accuracy among the evaluated models.</a:t>
            </a:r>
          </a:p>
          <a:p>
            <a:pPr marL="285750" indent="-285750">
              <a:lnSpc>
                <a:spcPct val="150000"/>
              </a:lnSpc>
              <a:buFont typeface="Arial" panose="020B0604020202020204" pitchFamily="34" charset="0"/>
              <a:buChar char="•"/>
            </a:pPr>
            <a:r>
              <a:rPr lang="en-US" dirty="0"/>
              <a:t> Behavioural features such as sleep and workload significantly affect stress levels.</a:t>
            </a:r>
          </a:p>
          <a:p>
            <a:pPr marL="285750" indent="-285750">
              <a:lnSpc>
                <a:spcPct val="150000"/>
              </a:lnSpc>
              <a:buFont typeface="Arial" panose="020B0604020202020204" pitchFamily="34" charset="0"/>
              <a:buChar char="•"/>
            </a:pPr>
            <a:r>
              <a:rPr lang="en-US" dirty="0"/>
              <a:t>Emotion features extracted from facial analysis provide additional context for prediction.</a:t>
            </a:r>
          </a:p>
          <a:p>
            <a:pPr marL="285750" indent="-285750">
              <a:lnSpc>
                <a:spcPct val="150000"/>
              </a:lnSpc>
              <a:buFont typeface="Arial" panose="020B0604020202020204" pitchFamily="34" charset="0"/>
              <a:buChar char="•"/>
            </a:pPr>
            <a:r>
              <a:rPr lang="en-US" dirty="0"/>
              <a:t>Random Forest provides useful feature importance for explaining predictions.</a:t>
            </a:r>
          </a:p>
          <a:p>
            <a:pPr marL="285750" indent="-285750">
              <a:lnSpc>
                <a:spcPct val="150000"/>
              </a:lnSpc>
              <a:buFont typeface="Arial" panose="020B0604020202020204" pitchFamily="34" charset="0"/>
              <a:buChar char="•"/>
            </a:pPr>
            <a:r>
              <a:rPr lang="en-US" dirty="0"/>
              <a:t>These results validate the feasibility of the proposed multimodal stress detection system.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533908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rPr>
              <a:t>Future Work </a:t>
            </a:r>
            <a:r>
              <a:rPr sz="2400" b="0" spc="-5" dirty="0">
                <a:solidFill>
                  <a:srgbClr val="FFFFFF"/>
                </a:solidFill>
                <a:latin typeface="Arial"/>
                <a:cs typeface="Arial"/>
              </a:rPr>
              <a:t>(till End-Term</a:t>
            </a:r>
            <a:r>
              <a:rPr sz="2400" b="0" spc="-35" dirty="0">
                <a:solidFill>
                  <a:srgbClr val="FFFFFF"/>
                </a:solidFill>
                <a:latin typeface="Arial"/>
                <a:cs typeface="Arial"/>
              </a:rPr>
              <a:t> </a:t>
            </a:r>
            <a:r>
              <a:rPr sz="2400" b="0" spc="-5" dirty="0">
                <a:solidFill>
                  <a:srgbClr val="FFFFFF"/>
                </a:solidFill>
                <a:latin typeface="Arial"/>
                <a:cs typeface="Arial"/>
              </a:rPr>
              <a:t>Evaluation)</a:t>
            </a:r>
            <a:endParaRPr sz="2400" dirty="0">
              <a:latin typeface="Arial"/>
              <a:cs typeface="Arial"/>
            </a:endParaRPr>
          </a:p>
        </p:txBody>
      </p:sp>
      <p:sp>
        <p:nvSpPr>
          <p:cNvPr id="4" name="object 4"/>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sp>
        <p:nvSpPr>
          <p:cNvPr id="3" name="object 3"/>
          <p:cNvSpPr txBox="1"/>
          <p:nvPr/>
        </p:nvSpPr>
        <p:spPr>
          <a:xfrm>
            <a:off x="251870" y="918023"/>
            <a:ext cx="8434930" cy="5552802"/>
          </a:xfrm>
          <a:prstGeom prst="rect">
            <a:avLst/>
          </a:prstGeom>
        </p:spPr>
        <p:txBody>
          <a:bodyPr vert="horz" wrap="square" lIns="0" tIns="12700" rIns="0" bIns="0" rtlCol="0">
            <a:spAutoFit/>
          </a:bodyPr>
          <a:lstStyle/>
          <a:p>
            <a:pPr algn="just">
              <a:buNone/>
            </a:pPr>
            <a:r>
              <a:rPr lang="en-US" dirty="0"/>
              <a:t>In the remaining phase of the project, the following tasks will be completed to finalize the Stress Management System.</a:t>
            </a:r>
          </a:p>
          <a:p>
            <a:pPr>
              <a:buNone/>
            </a:pPr>
            <a:endParaRPr lang="en-US" dirty="0"/>
          </a:p>
          <a:p>
            <a:pPr marL="285750" indent="-285750">
              <a:buFont typeface="Wingdings" panose="05000000000000000000" pitchFamily="2" charset="2"/>
              <a:buChar char="Ø"/>
            </a:pPr>
            <a:r>
              <a:rPr lang="en-US" b="1" dirty="0"/>
              <a:t>Real-Time Stress Prediction System</a:t>
            </a:r>
            <a:br>
              <a:rPr lang="en-US" dirty="0"/>
            </a:br>
            <a:r>
              <a:rPr lang="en-US" dirty="0"/>
              <a:t>A live prediction system will be implemented that allows users to enter routine data and capture facial signals. </a:t>
            </a:r>
          </a:p>
          <a:p>
            <a:pPr marL="285750" indent="-285750">
              <a:buFont typeface="Wingdings" panose="05000000000000000000" pitchFamily="2" charset="2"/>
              <a:buChar char="Ø"/>
            </a:pPr>
            <a:r>
              <a:rPr lang="en-US" b="1" dirty="0"/>
              <a:t>Explainable AI for Stress Factors</a:t>
            </a:r>
            <a:br>
              <a:rPr lang="en-US" dirty="0"/>
            </a:br>
            <a:r>
              <a:rPr lang="en-US" dirty="0"/>
              <a:t>Feature importance analysis will be incorporated to identify the main factors contributing to stress. </a:t>
            </a:r>
          </a:p>
          <a:p>
            <a:pPr marL="285750" indent="-285750">
              <a:buFont typeface="Wingdings" panose="05000000000000000000" pitchFamily="2" charset="2"/>
              <a:buChar char="Ø"/>
            </a:pPr>
            <a:r>
              <a:rPr lang="en-US" b="1" dirty="0"/>
              <a:t>Stress Management Recommendation Engine</a:t>
            </a:r>
            <a:br>
              <a:rPr lang="en-US" dirty="0"/>
            </a:br>
            <a:r>
              <a:rPr lang="en-US" dirty="0"/>
              <a:t>A rule-based recommendation module will be implemented to provide suggestions such as improving sleep habits, reducing screen time, or performing relaxation exercises.</a:t>
            </a:r>
          </a:p>
          <a:p>
            <a:pPr marL="285750" indent="-285750">
              <a:buFont typeface="Wingdings" panose="05000000000000000000" pitchFamily="2" charset="2"/>
              <a:buChar char="Ø"/>
            </a:pPr>
            <a:r>
              <a:rPr lang="en-US" b="1" dirty="0"/>
              <a:t>User Interface Development</a:t>
            </a:r>
            <a:br>
              <a:rPr lang="en-US" dirty="0"/>
            </a:br>
            <a:r>
              <a:rPr lang="en-US" dirty="0"/>
              <a:t>A simple user interface will be developed to allow users to input routine information, capture facial images, and view stress predictions and recommendations.</a:t>
            </a:r>
          </a:p>
          <a:p>
            <a:pPr marL="285750" indent="-285750">
              <a:buFont typeface="Wingdings" panose="05000000000000000000" pitchFamily="2" charset="2"/>
              <a:buChar char="Ø"/>
            </a:pPr>
            <a:r>
              <a:rPr lang="en-US" b="1" dirty="0"/>
              <a:t>Final System Testing and Optimization</a:t>
            </a:r>
            <a:br>
              <a:rPr lang="en-US" dirty="0"/>
            </a:br>
            <a:r>
              <a:rPr lang="en-US" dirty="0"/>
              <a:t>The complete system will be tested using multiple scenarios to verify prediction accuracy, module integration, and overall system performance before final project submission.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269875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rPr>
              <a:t>Work</a:t>
            </a:r>
            <a:r>
              <a:rPr sz="2400" spc="-65" dirty="0">
                <a:solidFill>
                  <a:srgbClr val="FFFFFF"/>
                </a:solidFill>
              </a:rPr>
              <a:t> </a:t>
            </a:r>
            <a:r>
              <a:rPr sz="2400" spc="-5" dirty="0">
                <a:solidFill>
                  <a:srgbClr val="FFFFFF"/>
                </a:solidFill>
              </a:rPr>
              <a:t>Contribution</a:t>
            </a:r>
            <a:endParaRPr sz="2400"/>
          </a:p>
        </p:txBody>
      </p:sp>
      <p:sp>
        <p:nvSpPr>
          <p:cNvPr id="4" name="object 4"/>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graphicFrame>
        <p:nvGraphicFramePr>
          <p:cNvPr id="7" name="Table 6">
            <a:extLst>
              <a:ext uri="{FF2B5EF4-FFF2-40B4-BE49-F238E27FC236}">
                <a16:creationId xmlns:a16="http://schemas.microsoft.com/office/drawing/2014/main" id="{3EF93FAD-DDD1-F062-1621-6531D1877AD4}"/>
              </a:ext>
            </a:extLst>
          </p:cNvPr>
          <p:cNvGraphicFramePr>
            <a:graphicFrameLocks noGrp="1"/>
          </p:cNvGraphicFramePr>
          <p:nvPr>
            <p:extLst>
              <p:ext uri="{D42A27DB-BD31-4B8C-83A1-F6EECF244321}">
                <p14:modId xmlns:p14="http://schemas.microsoft.com/office/powerpoint/2010/main" val="634745094"/>
              </p:ext>
            </p:extLst>
          </p:nvPr>
        </p:nvGraphicFramePr>
        <p:xfrm>
          <a:off x="210820" y="914400"/>
          <a:ext cx="8704578" cy="5407698"/>
        </p:xfrm>
        <a:graphic>
          <a:graphicData uri="http://schemas.openxmlformats.org/drawingml/2006/table">
            <a:tbl>
              <a:tblPr firstRow="1" bandRow="1">
                <a:tableStyleId>{073A0DAA-6AF3-43AB-8588-CEC1D06C72B9}</a:tableStyleId>
              </a:tblPr>
              <a:tblGrid>
                <a:gridCol w="627380">
                  <a:extLst>
                    <a:ext uri="{9D8B030D-6E8A-4147-A177-3AD203B41FA5}">
                      <a16:colId xmlns:a16="http://schemas.microsoft.com/office/drawing/2014/main" val="378005333"/>
                    </a:ext>
                  </a:extLst>
                </a:gridCol>
                <a:gridCol w="1295400">
                  <a:extLst>
                    <a:ext uri="{9D8B030D-6E8A-4147-A177-3AD203B41FA5}">
                      <a16:colId xmlns:a16="http://schemas.microsoft.com/office/drawing/2014/main" val="1400296454"/>
                    </a:ext>
                  </a:extLst>
                </a:gridCol>
                <a:gridCol w="2438400">
                  <a:extLst>
                    <a:ext uri="{9D8B030D-6E8A-4147-A177-3AD203B41FA5}">
                      <a16:colId xmlns:a16="http://schemas.microsoft.com/office/drawing/2014/main" val="1149451014"/>
                    </a:ext>
                  </a:extLst>
                </a:gridCol>
                <a:gridCol w="1371600">
                  <a:extLst>
                    <a:ext uri="{9D8B030D-6E8A-4147-A177-3AD203B41FA5}">
                      <a16:colId xmlns:a16="http://schemas.microsoft.com/office/drawing/2014/main" val="2873320453"/>
                    </a:ext>
                  </a:extLst>
                </a:gridCol>
                <a:gridCol w="1295400">
                  <a:extLst>
                    <a:ext uri="{9D8B030D-6E8A-4147-A177-3AD203B41FA5}">
                      <a16:colId xmlns:a16="http://schemas.microsoft.com/office/drawing/2014/main" val="4217032508"/>
                    </a:ext>
                  </a:extLst>
                </a:gridCol>
                <a:gridCol w="1676398">
                  <a:extLst>
                    <a:ext uri="{9D8B030D-6E8A-4147-A177-3AD203B41FA5}">
                      <a16:colId xmlns:a16="http://schemas.microsoft.com/office/drawing/2014/main" val="1842935533"/>
                    </a:ext>
                  </a:extLst>
                </a:gridCol>
              </a:tblGrid>
              <a:tr h="1228753">
                <a:tc>
                  <a:txBody>
                    <a:bodyPr/>
                    <a:lstStyle/>
                    <a:p>
                      <a:pPr algn="ctr"/>
                      <a:r>
                        <a:rPr lang="en-US" sz="1700" dirty="0"/>
                        <a:t>S no. </a:t>
                      </a:r>
                      <a:endParaRPr lang="en-IN" sz="1700" dirty="0"/>
                    </a:p>
                  </a:txBody>
                  <a:tcPr anchor="ctr"/>
                </a:tc>
                <a:tc>
                  <a:txBody>
                    <a:bodyPr/>
                    <a:lstStyle/>
                    <a:p>
                      <a:pPr algn="ctr"/>
                      <a:r>
                        <a:rPr lang="en-US" sz="1700" dirty="0"/>
                        <a:t>Name</a:t>
                      </a:r>
                    </a:p>
                    <a:p>
                      <a:pPr algn="ctr"/>
                      <a:r>
                        <a:rPr lang="en-US" sz="1700" dirty="0"/>
                        <a:t>and</a:t>
                      </a:r>
                      <a:br>
                        <a:rPr lang="en-US" sz="1700" dirty="0"/>
                      </a:br>
                      <a:r>
                        <a:rPr lang="en-US" sz="1700" dirty="0"/>
                        <a:t>Roll No.</a:t>
                      </a:r>
                      <a:endParaRPr lang="en-IN" sz="1700" dirty="0"/>
                    </a:p>
                  </a:txBody>
                  <a:tcPr anchor="ctr"/>
                </a:tc>
                <a:tc>
                  <a:txBody>
                    <a:bodyPr/>
                    <a:lstStyle/>
                    <a:p>
                      <a:pPr algn="ctr"/>
                      <a:r>
                        <a:rPr lang="en-US" sz="1700" dirty="0"/>
                        <a:t>Work Done</a:t>
                      </a:r>
                      <a:endParaRPr lang="en-IN" sz="1700" dirty="0"/>
                    </a:p>
                  </a:txBody>
                  <a:tcPr anchor="ctr"/>
                </a:tc>
                <a:tc>
                  <a:txBody>
                    <a:bodyPr/>
                    <a:lstStyle/>
                    <a:p>
                      <a:pPr algn="ctr"/>
                      <a:r>
                        <a:rPr lang="en-US" sz="1700" dirty="0"/>
                        <a:t>Work Contribution</a:t>
                      </a:r>
                      <a:br>
                        <a:rPr lang="en-US" sz="1700" dirty="0"/>
                      </a:br>
                      <a:r>
                        <a:rPr lang="en-US" sz="1700" dirty="0"/>
                        <a:t>(%)</a:t>
                      </a:r>
                      <a:endParaRPr lang="en-IN" sz="1700" dirty="0"/>
                    </a:p>
                  </a:txBody>
                  <a:tcPr anchor="ctr"/>
                </a:tc>
                <a:tc>
                  <a:txBody>
                    <a:bodyPr/>
                    <a:lstStyle/>
                    <a:p>
                      <a:pPr algn="ctr"/>
                      <a:r>
                        <a:rPr lang="en-US" sz="1700" dirty="0"/>
                        <a:t>No. of Literature Read</a:t>
                      </a:r>
                      <a:endParaRPr lang="en-IN" sz="1700" dirty="0"/>
                    </a:p>
                  </a:txBody>
                  <a:tcPr anchor="ctr"/>
                </a:tc>
                <a:tc>
                  <a:txBody>
                    <a:bodyPr/>
                    <a:lstStyle/>
                    <a:p>
                      <a:pPr algn="ctr"/>
                      <a:r>
                        <a:rPr lang="en-US" sz="1700" dirty="0"/>
                        <a:t>Implementation</a:t>
                      </a:r>
                      <a:endParaRPr lang="en-IN" sz="1700" dirty="0"/>
                    </a:p>
                  </a:txBody>
                  <a:tcPr anchor="ctr"/>
                </a:tc>
                <a:extLst>
                  <a:ext uri="{0D108BD9-81ED-4DB2-BD59-A6C34878D82A}">
                    <a16:rowId xmlns:a16="http://schemas.microsoft.com/office/drawing/2014/main" val="3611727981"/>
                  </a:ext>
                </a:extLst>
              </a:tr>
              <a:tr h="1057247">
                <a:tc>
                  <a:txBody>
                    <a:bodyPr/>
                    <a:lstStyle/>
                    <a:p>
                      <a:pPr algn="ctr"/>
                      <a:r>
                        <a:rPr lang="en-US" sz="1700" dirty="0"/>
                        <a:t>1</a:t>
                      </a:r>
                      <a:endParaRPr lang="en-IN" sz="1700" dirty="0"/>
                    </a:p>
                  </a:txBody>
                  <a:tcPr anchor="ctr"/>
                </a:tc>
                <a:tc>
                  <a:txBody>
                    <a:bodyPr/>
                    <a:lstStyle/>
                    <a:p>
                      <a:pPr algn="ctr"/>
                      <a:r>
                        <a:rPr lang="en-IN" sz="1700" dirty="0"/>
                        <a:t>Abhiuday Pratap Singh</a:t>
                      </a:r>
                      <a:br>
                        <a:rPr lang="en-IN" sz="1700" dirty="0"/>
                      </a:br>
                      <a:r>
                        <a:rPr lang="en-IN" sz="1700" dirty="0"/>
                        <a:t>231031005</a:t>
                      </a:r>
                    </a:p>
                  </a:txBody>
                  <a:tcPr anchor="ctr"/>
                </a:tc>
                <a:tc>
                  <a:txBody>
                    <a:bodyPr/>
                    <a:lstStyle/>
                    <a:p>
                      <a:r>
                        <a:rPr lang="en-US" sz="1700" dirty="0"/>
                        <a:t>ML pipeline design, model training, and evaluation.</a:t>
                      </a:r>
                      <a:endParaRPr lang="en-IN" sz="1700" dirty="0"/>
                    </a:p>
                  </a:txBody>
                  <a:tcPr anchor="ctr"/>
                </a:tc>
                <a:tc>
                  <a:txBody>
                    <a:bodyPr/>
                    <a:lstStyle/>
                    <a:p>
                      <a:pPr algn="ctr"/>
                      <a:r>
                        <a:rPr lang="en-US" sz="1700" dirty="0"/>
                        <a:t>30%</a:t>
                      </a:r>
                      <a:endParaRPr lang="en-IN" sz="1700" dirty="0"/>
                    </a:p>
                  </a:txBody>
                  <a:tcPr anchor="ctr"/>
                </a:tc>
                <a:tc>
                  <a:txBody>
                    <a:bodyPr/>
                    <a:lstStyle/>
                    <a:p>
                      <a:pPr algn="ctr"/>
                      <a:r>
                        <a:rPr lang="en-US" sz="1700" dirty="0"/>
                        <a:t>4</a:t>
                      </a:r>
                      <a:endParaRPr lang="en-IN" sz="1700" dirty="0"/>
                    </a:p>
                  </a:txBody>
                  <a:tcPr anchor="ctr"/>
                </a:tc>
                <a:tc>
                  <a:txBody>
                    <a:bodyPr/>
                    <a:lstStyle/>
                    <a:p>
                      <a:r>
                        <a:rPr lang="en-US" sz="1700" dirty="0"/>
                        <a:t>ML models and prediction pipeline</a:t>
                      </a:r>
                      <a:endParaRPr lang="en-IN" sz="1700" dirty="0"/>
                    </a:p>
                  </a:txBody>
                  <a:tcPr anchor="ctr"/>
                </a:tc>
                <a:extLst>
                  <a:ext uri="{0D108BD9-81ED-4DB2-BD59-A6C34878D82A}">
                    <a16:rowId xmlns:a16="http://schemas.microsoft.com/office/drawing/2014/main" val="3375868535"/>
                  </a:ext>
                </a:extLst>
              </a:tr>
              <a:tr h="946472">
                <a:tc>
                  <a:txBody>
                    <a:bodyPr/>
                    <a:lstStyle/>
                    <a:p>
                      <a:pPr algn="ctr"/>
                      <a:r>
                        <a:rPr lang="en-US" sz="1700" dirty="0"/>
                        <a:t>2</a:t>
                      </a:r>
                      <a:endParaRPr lang="en-IN" sz="1700" dirty="0"/>
                    </a:p>
                  </a:txBody>
                  <a:tcPr anchor="ctr"/>
                </a:tc>
                <a:tc>
                  <a:txBody>
                    <a:bodyPr/>
                    <a:lstStyle/>
                    <a:p>
                      <a:pPr algn="ctr"/>
                      <a:r>
                        <a:rPr lang="en-IN" sz="1700" dirty="0"/>
                        <a:t>Sameeksha Shakya</a:t>
                      </a:r>
                      <a:br>
                        <a:rPr lang="en-IN" sz="1700" dirty="0"/>
                      </a:br>
                      <a:r>
                        <a:rPr lang="en-IN" sz="1700" dirty="0"/>
                        <a:t>231030002</a:t>
                      </a:r>
                    </a:p>
                  </a:txBody>
                  <a:tcPr anchor="ctr"/>
                </a:tc>
                <a:tc>
                  <a:txBody>
                    <a:bodyPr/>
                    <a:lstStyle/>
                    <a:p>
                      <a:r>
                        <a:rPr lang="en-US" sz="1700" dirty="0"/>
                        <a:t>Facial landmark detection and emotion analysis research.</a:t>
                      </a:r>
                      <a:endParaRPr lang="en-IN" sz="1700" dirty="0"/>
                    </a:p>
                  </a:txBody>
                  <a:tcPr anchor="ctr"/>
                </a:tc>
                <a:tc>
                  <a:txBody>
                    <a:bodyPr/>
                    <a:lstStyle/>
                    <a:p>
                      <a:pPr algn="ctr"/>
                      <a:r>
                        <a:rPr lang="en-US" sz="1700" dirty="0"/>
                        <a:t>25%</a:t>
                      </a:r>
                      <a:endParaRPr lang="en-IN" sz="1700" dirty="0"/>
                    </a:p>
                  </a:txBody>
                  <a:tcPr anchor="ctr"/>
                </a:tc>
                <a:tc>
                  <a:txBody>
                    <a:bodyPr/>
                    <a:lstStyle/>
                    <a:p>
                      <a:pPr algn="ctr"/>
                      <a:r>
                        <a:rPr lang="en-US" sz="1700" dirty="0"/>
                        <a:t>4</a:t>
                      </a:r>
                      <a:endParaRPr lang="en-IN" sz="1700" dirty="0"/>
                    </a:p>
                  </a:txBody>
                  <a:tcPr anchor="ctr"/>
                </a:tc>
                <a:tc>
                  <a:txBody>
                    <a:bodyPr/>
                    <a:lstStyle/>
                    <a:p>
                      <a:r>
                        <a:rPr lang="en-IN" sz="1700" dirty="0"/>
                        <a:t>Facial feature extraction module</a:t>
                      </a:r>
                    </a:p>
                  </a:txBody>
                  <a:tcPr anchor="ctr"/>
                </a:tc>
                <a:extLst>
                  <a:ext uri="{0D108BD9-81ED-4DB2-BD59-A6C34878D82A}">
                    <a16:rowId xmlns:a16="http://schemas.microsoft.com/office/drawing/2014/main" val="2088708182"/>
                  </a:ext>
                </a:extLst>
              </a:tr>
              <a:tr h="963077">
                <a:tc>
                  <a:txBody>
                    <a:bodyPr/>
                    <a:lstStyle/>
                    <a:p>
                      <a:pPr algn="ctr"/>
                      <a:r>
                        <a:rPr lang="en-US" sz="1700" dirty="0"/>
                        <a:t>3</a:t>
                      </a:r>
                      <a:endParaRPr lang="en-IN" sz="1700" dirty="0"/>
                    </a:p>
                  </a:txBody>
                  <a:tcPr anchor="ctr"/>
                </a:tc>
                <a:tc>
                  <a:txBody>
                    <a:bodyPr/>
                    <a:lstStyle/>
                    <a:p>
                      <a:pPr algn="ctr"/>
                      <a:r>
                        <a:rPr lang="en-IN" sz="1700" dirty="0"/>
                        <a:t>Devanshu Saroha 231030153</a:t>
                      </a:r>
                    </a:p>
                  </a:txBody>
                  <a:tcPr anchor="ctr"/>
                </a:tc>
                <a:tc>
                  <a:txBody>
                    <a:bodyPr/>
                    <a:lstStyle/>
                    <a:p>
                      <a:r>
                        <a:rPr lang="en-US" sz="1700" dirty="0"/>
                        <a:t>System workflow design and module integration.</a:t>
                      </a:r>
                      <a:endParaRPr lang="en-IN" sz="1700" dirty="0"/>
                    </a:p>
                  </a:txBody>
                  <a:tcPr anchor="ctr"/>
                </a:tc>
                <a:tc>
                  <a:txBody>
                    <a:bodyPr/>
                    <a:lstStyle/>
                    <a:p>
                      <a:pPr algn="ctr"/>
                      <a:r>
                        <a:rPr lang="en-US" sz="1700" dirty="0"/>
                        <a:t>25%</a:t>
                      </a:r>
                    </a:p>
                  </a:txBody>
                  <a:tcPr anchor="ctr"/>
                </a:tc>
                <a:tc>
                  <a:txBody>
                    <a:bodyPr/>
                    <a:lstStyle/>
                    <a:p>
                      <a:pPr algn="ctr"/>
                      <a:r>
                        <a:rPr lang="en-US" sz="1700" dirty="0"/>
                        <a:t>4</a:t>
                      </a:r>
                      <a:endParaRPr lang="en-IN" sz="1700" dirty="0"/>
                    </a:p>
                  </a:txBody>
                  <a:tcPr anchor="ctr"/>
                </a:tc>
                <a:tc>
                  <a:txBody>
                    <a:bodyPr/>
                    <a:lstStyle/>
                    <a:p>
                      <a:r>
                        <a:rPr lang="en-US" sz="1700" dirty="0"/>
                        <a:t>UI flow and system integration</a:t>
                      </a:r>
                      <a:endParaRPr lang="en-IN" sz="1700" dirty="0"/>
                    </a:p>
                  </a:txBody>
                  <a:tcPr anchor="ctr"/>
                </a:tc>
                <a:extLst>
                  <a:ext uri="{0D108BD9-81ED-4DB2-BD59-A6C34878D82A}">
                    <a16:rowId xmlns:a16="http://schemas.microsoft.com/office/drawing/2014/main" val="78891521"/>
                  </a:ext>
                </a:extLst>
              </a:tr>
              <a:tr h="1212149">
                <a:tc>
                  <a:txBody>
                    <a:bodyPr/>
                    <a:lstStyle/>
                    <a:p>
                      <a:pPr algn="ctr"/>
                      <a:r>
                        <a:rPr lang="en-US" sz="1700" dirty="0"/>
                        <a:t>4</a:t>
                      </a:r>
                      <a:endParaRPr lang="en-IN" sz="1700" dirty="0"/>
                    </a:p>
                  </a:txBody>
                  <a:tcPr anchor="ctr"/>
                </a:tc>
                <a:tc>
                  <a:txBody>
                    <a:bodyPr/>
                    <a:lstStyle/>
                    <a:p>
                      <a:pPr algn="ctr"/>
                      <a:r>
                        <a:rPr lang="en-US" sz="1700" dirty="0"/>
                        <a:t>Shivansh Sharma</a:t>
                      </a:r>
                      <a:br>
                        <a:rPr lang="en-US" sz="1700" dirty="0"/>
                      </a:br>
                      <a:r>
                        <a:rPr lang="en-US" sz="1700" dirty="0"/>
                        <a:t>231030171</a:t>
                      </a:r>
                    </a:p>
                  </a:txBody>
                  <a:tcPr anchor="ctr"/>
                </a:tc>
                <a:tc>
                  <a:txBody>
                    <a:bodyPr/>
                    <a:lstStyle/>
                    <a:p>
                      <a:r>
                        <a:rPr lang="en-IN" sz="1700" dirty="0"/>
                        <a:t>Dataset design, validation, and documentation.</a:t>
                      </a:r>
                    </a:p>
                  </a:txBody>
                  <a:tcPr anchor="ctr"/>
                </a:tc>
                <a:tc>
                  <a:txBody>
                    <a:bodyPr/>
                    <a:lstStyle/>
                    <a:p>
                      <a:pPr algn="ctr"/>
                      <a:r>
                        <a:rPr lang="en-US" sz="1700" dirty="0"/>
                        <a:t>20%</a:t>
                      </a:r>
                      <a:endParaRPr lang="en-IN" sz="1700" dirty="0"/>
                    </a:p>
                  </a:txBody>
                  <a:tcPr anchor="ctr"/>
                </a:tc>
                <a:tc>
                  <a:txBody>
                    <a:bodyPr/>
                    <a:lstStyle/>
                    <a:p>
                      <a:pPr algn="ctr"/>
                      <a:r>
                        <a:rPr lang="en-US" sz="1700" dirty="0"/>
                        <a:t>4</a:t>
                      </a:r>
                      <a:endParaRPr lang="en-IN" sz="1700" dirty="0"/>
                    </a:p>
                  </a:txBody>
                  <a:tcPr anchor="ctr"/>
                </a:tc>
                <a:tc>
                  <a:txBody>
                    <a:bodyPr/>
                    <a:lstStyle/>
                    <a:p>
                      <a:r>
                        <a:rPr lang="en-IN" sz="1700" dirty="0"/>
                        <a:t>Dataset preparation and management</a:t>
                      </a:r>
                    </a:p>
                  </a:txBody>
                  <a:tcPr anchor="ctr"/>
                </a:tc>
                <a:extLst>
                  <a:ext uri="{0D108BD9-81ED-4DB2-BD59-A6C34878D82A}">
                    <a16:rowId xmlns:a16="http://schemas.microsoft.com/office/drawing/2014/main" val="178139002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 y="174312"/>
            <a:ext cx="166687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FFFFFF"/>
                </a:solidFill>
              </a:rPr>
              <a:t>R</a:t>
            </a:r>
            <a:r>
              <a:rPr sz="2400" spc="-5" dirty="0">
                <a:solidFill>
                  <a:srgbClr val="FFFFFF"/>
                </a:solidFill>
              </a:rPr>
              <a:t>e</a:t>
            </a:r>
            <a:r>
              <a:rPr sz="2400" dirty="0">
                <a:solidFill>
                  <a:srgbClr val="FFFFFF"/>
                </a:solidFill>
              </a:rPr>
              <a:t>f</a:t>
            </a:r>
            <a:r>
              <a:rPr sz="2400" spc="-5" dirty="0">
                <a:solidFill>
                  <a:srgbClr val="FFFFFF"/>
                </a:solidFill>
              </a:rPr>
              <a:t>e</a:t>
            </a:r>
            <a:r>
              <a:rPr sz="2400" dirty="0">
                <a:solidFill>
                  <a:srgbClr val="FFFFFF"/>
                </a:solidFill>
              </a:rPr>
              <a:t>r</a:t>
            </a:r>
            <a:r>
              <a:rPr sz="2400" spc="-5" dirty="0">
                <a:solidFill>
                  <a:srgbClr val="FFFFFF"/>
                </a:solidFill>
              </a:rPr>
              <a:t>ences</a:t>
            </a:r>
            <a:endParaRPr sz="2400"/>
          </a:p>
        </p:txBody>
      </p:sp>
      <p:sp>
        <p:nvSpPr>
          <p:cNvPr id="4" name="object 4"/>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sp>
        <p:nvSpPr>
          <p:cNvPr id="3" name="object 3"/>
          <p:cNvSpPr txBox="1"/>
          <p:nvPr/>
        </p:nvSpPr>
        <p:spPr>
          <a:xfrm>
            <a:off x="210820" y="914400"/>
            <a:ext cx="8552180" cy="5614357"/>
          </a:xfrm>
          <a:prstGeom prst="rect">
            <a:avLst/>
          </a:prstGeom>
        </p:spPr>
        <p:txBody>
          <a:bodyPr vert="horz" wrap="square" lIns="0" tIns="12700" rIns="0" bIns="0" rtlCol="0">
            <a:spAutoFit/>
          </a:bodyPr>
          <a:lstStyle/>
          <a:p>
            <a:pPr algn="just">
              <a:buNone/>
            </a:pPr>
            <a:r>
              <a:rPr lang="en-US" sz="1400" dirty="0"/>
              <a:t>[1] Zhang, Y. et al., “Multimodal Stress Detection Using Deep Learning,” 2022.  </a:t>
            </a:r>
          </a:p>
          <a:p>
            <a:pPr algn="just">
              <a:buNone/>
            </a:pPr>
            <a:r>
              <a:rPr lang="en-US" sz="1400" dirty="0"/>
              <a:t>https://www.frontiersin.org/articles/10.3389/fnins.2022.947168  </a:t>
            </a:r>
          </a:p>
          <a:p>
            <a:pPr algn="just">
              <a:buNone/>
            </a:pPr>
            <a:endParaRPr lang="en-US" sz="1400" dirty="0"/>
          </a:p>
          <a:p>
            <a:pPr algn="just">
              <a:buNone/>
            </a:pPr>
            <a:r>
              <a:rPr lang="en-US" sz="1400" dirty="0"/>
              <a:t>[2] Kaur, S. et al., “</a:t>
            </a:r>
            <a:r>
              <a:rPr lang="en-US" sz="1400" dirty="0" err="1"/>
              <a:t>EmpathicSchool</a:t>
            </a:r>
            <a:r>
              <a:rPr lang="en-US" sz="1400" dirty="0"/>
              <a:t>: A Dataset for Student Stress Analysis,” 2025.  </a:t>
            </a:r>
          </a:p>
          <a:p>
            <a:pPr algn="just">
              <a:buNone/>
            </a:pPr>
            <a:r>
              <a:rPr lang="en-US" sz="1400" dirty="0"/>
              <a:t>https://www.nature.com/articles/s41597-025-05812-0  </a:t>
            </a:r>
          </a:p>
          <a:p>
            <a:pPr algn="just">
              <a:buNone/>
            </a:pPr>
            <a:endParaRPr lang="en-US" sz="1400" dirty="0"/>
          </a:p>
          <a:p>
            <a:pPr algn="just">
              <a:buNone/>
            </a:pPr>
            <a:r>
              <a:rPr lang="en-US" sz="1400" dirty="0"/>
              <a:t>[3] Sharma, A. et al., “Facial Expression-Based Stress Detection Using CNN,” 2024.  </a:t>
            </a:r>
          </a:p>
          <a:p>
            <a:pPr algn="just">
              <a:buNone/>
            </a:pPr>
            <a:r>
              <a:rPr lang="en-US" sz="1400" dirty="0"/>
              <a:t>https://journalspub.com  </a:t>
            </a:r>
          </a:p>
          <a:p>
            <a:pPr algn="just">
              <a:buNone/>
            </a:pPr>
            <a:endParaRPr lang="en-US" sz="1400" dirty="0"/>
          </a:p>
          <a:p>
            <a:pPr algn="just">
              <a:buNone/>
            </a:pPr>
            <a:r>
              <a:rPr lang="en-US" sz="1400" dirty="0"/>
              <a:t>[4] Wang, H. et al., “Emotion Recognition for Stress Analysis,” 2024.  </a:t>
            </a:r>
          </a:p>
          <a:p>
            <a:pPr algn="just">
              <a:buNone/>
            </a:pPr>
            <a:endParaRPr lang="en-US" sz="1400" dirty="0"/>
          </a:p>
          <a:p>
            <a:pPr algn="just">
              <a:buNone/>
            </a:pPr>
            <a:r>
              <a:rPr lang="en-US" sz="1400" dirty="0"/>
              <a:t>[5] Patel, D. et al., “Compound Facial Expression Analysis for Stress Detection,” 2024.  </a:t>
            </a:r>
          </a:p>
          <a:p>
            <a:pPr algn="just">
              <a:buNone/>
            </a:pPr>
            <a:endParaRPr lang="en-US" sz="1400" dirty="0"/>
          </a:p>
          <a:p>
            <a:pPr algn="just">
              <a:buNone/>
            </a:pPr>
            <a:r>
              <a:rPr lang="en-US" sz="1400" dirty="0"/>
              <a:t>[6] Kim, J. et al., “Real-Time Stress Detection System Using Deep Learning,” 2025.  </a:t>
            </a:r>
          </a:p>
          <a:p>
            <a:pPr algn="just">
              <a:buNone/>
            </a:pPr>
            <a:endParaRPr lang="en-US" sz="1400" dirty="0"/>
          </a:p>
          <a:p>
            <a:pPr algn="just">
              <a:buNone/>
            </a:pPr>
            <a:r>
              <a:rPr lang="en-US" sz="1400" dirty="0"/>
              <a:t>[7] Hochreiter, S. et al., “CNN-LSTM for Emotion Recognition,” 2020.  </a:t>
            </a:r>
          </a:p>
          <a:p>
            <a:pPr algn="just">
              <a:buNone/>
            </a:pPr>
            <a:endParaRPr lang="en-US" sz="1400" dirty="0"/>
          </a:p>
          <a:p>
            <a:pPr algn="just">
              <a:buNone/>
            </a:pPr>
            <a:r>
              <a:rPr lang="en-US" sz="1400" dirty="0"/>
              <a:t>[8] </a:t>
            </a:r>
            <a:r>
              <a:rPr lang="en-US" sz="1400" dirty="0" err="1"/>
              <a:t>Mollahosseini</a:t>
            </a:r>
            <a:r>
              <a:rPr lang="en-US" sz="1400" dirty="0"/>
              <a:t>, A. et al., “</a:t>
            </a:r>
            <a:r>
              <a:rPr lang="en-US" sz="1400" dirty="0" err="1"/>
              <a:t>AffectNet</a:t>
            </a:r>
            <a:r>
              <a:rPr lang="en-US" sz="1400" dirty="0"/>
              <a:t>: A Database for Emotion Recognition,” 2021.  </a:t>
            </a:r>
          </a:p>
          <a:p>
            <a:pPr algn="just">
              <a:buNone/>
            </a:pPr>
            <a:endParaRPr lang="en-US" sz="1400" dirty="0"/>
          </a:p>
          <a:p>
            <a:pPr algn="just">
              <a:buNone/>
            </a:pPr>
            <a:r>
              <a:rPr lang="en-US" sz="1400" dirty="0"/>
              <a:t>[9] Saini, R. et al., “Machine Learning-Based Stress Detection,” 2024.  </a:t>
            </a:r>
          </a:p>
          <a:p>
            <a:pPr algn="just">
              <a:buNone/>
            </a:pPr>
            <a:endParaRPr lang="en-US" sz="1400" dirty="0"/>
          </a:p>
          <a:p>
            <a:pPr algn="just">
              <a:buNone/>
            </a:pPr>
            <a:r>
              <a:rPr lang="en-US" sz="1400" dirty="0"/>
              <a:t>[10] Saeb, S. et al., “Mobile Sensing for Stress Detection,” 2025.  </a:t>
            </a:r>
          </a:p>
          <a:p>
            <a:pPr algn="just">
              <a:buNone/>
            </a:pPr>
            <a:endParaRPr lang="en-US" sz="1400" dirty="0"/>
          </a:p>
          <a:p>
            <a:pPr algn="just">
              <a:buNone/>
            </a:pPr>
            <a:r>
              <a:rPr lang="en-US" sz="1400" dirty="0"/>
              <a:t>[11] Li, S. and Deng, W., “Deep Facial Expression Recognition: A Survey,” 2024.  </a:t>
            </a:r>
          </a:p>
          <a:p>
            <a:pPr algn="just">
              <a:buNone/>
            </a:pPr>
            <a:endParaRPr lang="en-US" sz="1400" dirty="0"/>
          </a:p>
          <a:p>
            <a:pPr algn="just">
              <a:buNone/>
            </a:pPr>
            <a:r>
              <a:rPr lang="en-US" sz="1400" dirty="0"/>
              <a:t>[12] Ekman, P. and Friesen, W., “Facial Action Coding System (FACS),” Updated Applications, 2024.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4B26B-C311-31B5-FA8D-1B540EE088A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29E557C-3D6E-E640-C967-B889BEE08F0C}"/>
              </a:ext>
            </a:extLst>
          </p:cNvPr>
          <p:cNvSpPr txBox="1">
            <a:spLocks noGrp="1"/>
          </p:cNvSpPr>
          <p:nvPr>
            <p:ph type="title"/>
          </p:nvPr>
        </p:nvSpPr>
        <p:spPr>
          <a:xfrm>
            <a:off x="210820" y="174312"/>
            <a:ext cx="166687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FFFFFF"/>
                </a:solidFill>
              </a:rPr>
              <a:t>R</a:t>
            </a:r>
            <a:r>
              <a:rPr sz="2400" spc="-5" dirty="0">
                <a:solidFill>
                  <a:srgbClr val="FFFFFF"/>
                </a:solidFill>
              </a:rPr>
              <a:t>e</a:t>
            </a:r>
            <a:r>
              <a:rPr sz="2400" dirty="0">
                <a:solidFill>
                  <a:srgbClr val="FFFFFF"/>
                </a:solidFill>
              </a:rPr>
              <a:t>f</a:t>
            </a:r>
            <a:r>
              <a:rPr sz="2400" spc="-5" dirty="0">
                <a:solidFill>
                  <a:srgbClr val="FFFFFF"/>
                </a:solidFill>
              </a:rPr>
              <a:t>e</a:t>
            </a:r>
            <a:r>
              <a:rPr sz="2400" dirty="0">
                <a:solidFill>
                  <a:srgbClr val="FFFFFF"/>
                </a:solidFill>
              </a:rPr>
              <a:t>r</a:t>
            </a:r>
            <a:r>
              <a:rPr sz="2400" spc="-5" dirty="0">
                <a:solidFill>
                  <a:srgbClr val="FFFFFF"/>
                </a:solidFill>
              </a:rPr>
              <a:t>ences</a:t>
            </a:r>
            <a:endParaRPr sz="2400"/>
          </a:p>
        </p:txBody>
      </p:sp>
      <p:sp>
        <p:nvSpPr>
          <p:cNvPr id="4" name="object 4">
            <a:extLst>
              <a:ext uri="{FF2B5EF4-FFF2-40B4-BE49-F238E27FC236}">
                <a16:creationId xmlns:a16="http://schemas.microsoft.com/office/drawing/2014/main" id="{7426F4A6-7DB0-22F5-A02A-54607F6A2AE8}"/>
              </a:ext>
            </a:extLst>
          </p:cNvPr>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sp>
        <p:nvSpPr>
          <p:cNvPr id="3" name="object 3">
            <a:extLst>
              <a:ext uri="{FF2B5EF4-FFF2-40B4-BE49-F238E27FC236}">
                <a16:creationId xmlns:a16="http://schemas.microsoft.com/office/drawing/2014/main" id="{3115B361-4C3D-EE71-CA2C-13D8C4271FE1}"/>
              </a:ext>
            </a:extLst>
          </p:cNvPr>
          <p:cNvSpPr txBox="1"/>
          <p:nvPr/>
        </p:nvSpPr>
        <p:spPr>
          <a:xfrm>
            <a:off x="210820" y="838200"/>
            <a:ext cx="8282530" cy="3298595"/>
          </a:xfrm>
          <a:prstGeom prst="rect">
            <a:avLst/>
          </a:prstGeom>
        </p:spPr>
        <p:txBody>
          <a:bodyPr vert="horz" wrap="square" lIns="0" tIns="12700" rIns="0" bIns="0" rtlCol="0">
            <a:spAutoFit/>
          </a:bodyPr>
          <a:lstStyle/>
          <a:p>
            <a:pPr>
              <a:lnSpc>
                <a:spcPct val="150000"/>
              </a:lnSpc>
              <a:buNone/>
            </a:pPr>
            <a:r>
              <a:rPr lang="en-US" sz="1600" dirty="0"/>
              <a:t>[13] Dataset: student-stress-monitoring-datasets link: </a:t>
            </a:r>
            <a:r>
              <a:rPr lang="en-US" sz="1600" dirty="0">
                <a:hlinkClick r:id="rId2"/>
              </a:rPr>
              <a:t>https://www.kaggle.com/datasets/mdsultanulislamovi/student-stress-monitoring-datasets?resource=download</a:t>
            </a:r>
            <a:endParaRPr lang="en-US" sz="1600" dirty="0"/>
          </a:p>
          <a:p>
            <a:pPr>
              <a:lnSpc>
                <a:spcPct val="150000"/>
              </a:lnSpc>
              <a:buNone/>
            </a:pPr>
            <a:r>
              <a:rPr lang="en-US" sz="1600" dirty="0"/>
              <a:t>[14] Lundberg, S.M. and Lee, S., “A Unified Approach to Interpreting Model Predictions (SHAP),” 2017.  </a:t>
            </a:r>
          </a:p>
          <a:p>
            <a:pPr>
              <a:lnSpc>
                <a:spcPct val="150000"/>
              </a:lnSpc>
              <a:buNone/>
            </a:pPr>
            <a:r>
              <a:rPr lang="en-US" sz="1600" dirty="0"/>
              <a:t>https://arxiv.org/abs/1705.07874  </a:t>
            </a:r>
          </a:p>
          <a:p>
            <a:pPr>
              <a:lnSpc>
                <a:spcPct val="150000"/>
              </a:lnSpc>
              <a:buNone/>
            </a:pPr>
            <a:r>
              <a:rPr lang="en-US" sz="1600" dirty="0"/>
              <a:t>[15] </a:t>
            </a:r>
            <a:r>
              <a:rPr lang="en-US" sz="1600" dirty="0" err="1"/>
              <a:t>Taigman</a:t>
            </a:r>
            <a:r>
              <a:rPr lang="en-US" sz="1600" dirty="0"/>
              <a:t>, Y. et al., “</a:t>
            </a:r>
            <a:r>
              <a:rPr lang="en-US" sz="1600" dirty="0" err="1"/>
              <a:t>DeepFace</a:t>
            </a:r>
            <a:r>
              <a:rPr lang="en-US" sz="1600" dirty="0"/>
              <a:t>: Closing the Gap to Human-Level Performance,” 2014.  </a:t>
            </a:r>
          </a:p>
          <a:p>
            <a:pPr>
              <a:lnSpc>
                <a:spcPct val="150000"/>
              </a:lnSpc>
              <a:buNone/>
            </a:pPr>
            <a:r>
              <a:rPr lang="en-US" sz="1600" dirty="0"/>
              <a:t>[16] Wang, R. et al., “StudentLife: Assessing Mental Health using Smartphones,” 2014.  </a:t>
            </a:r>
          </a:p>
          <a:p>
            <a:pPr>
              <a:lnSpc>
                <a:spcPct val="150000"/>
              </a:lnSpc>
              <a:buNone/>
            </a:pPr>
            <a:r>
              <a:rPr lang="en-US" sz="1600" dirty="0"/>
              <a:t>[17] Fawcett, T., “An Introduction to ROC Analysis,” 2006.</a:t>
            </a:r>
          </a:p>
        </p:txBody>
      </p:sp>
    </p:spTree>
    <p:extLst>
      <p:ext uri="{BB962C8B-B14F-4D97-AF65-F5344CB8AC3E}">
        <p14:creationId xmlns:p14="http://schemas.microsoft.com/office/powerpoint/2010/main" val="2496209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41883" y="3206824"/>
            <a:ext cx="2660233" cy="444352"/>
          </a:xfrm>
          <a:prstGeom prst="rect">
            <a:avLst/>
          </a:prstGeom>
        </p:spPr>
        <p:txBody>
          <a:bodyPr vert="horz" wrap="square" lIns="0" tIns="13335" rIns="0" bIns="0" rtlCol="0">
            <a:spAutoFit/>
          </a:bodyPr>
          <a:lstStyle/>
          <a:p>
            <a:pPr marL="71755" algn="ctr">
              <a:lnSpc>
                <a:spcPct val="100000"/>
              </a:lnSpc>
              <a:spcBef>
                <a:spcPts val="105"/>
              </a:spcBef>
            </a:pPr>
            <a:r>
              <a:rPr lang="en-US" sz="2800" dirty="0"/>
              <a:t>Thank You</a:t>
            </a:r>
            <a:r>
              <a:rPr sz="1800" b="0" dirty="0">
                <a:latin typeface="Arial"/>
                <a:cs typeface="Arial"/>
              </a:rPr>
              <a:t>.</a:t>
            </a:r>
            <a:endParaRPr sz="1800" dirty="0">
              <a:latin typeface="Arial"/>
              <a:cs typeface="Arial"/>
            </a:endParaRPr>
          </a:p>
        </p:txBody>
      </p:sp>
      <p:sp>
        <p:nvSpPr>
          <p:cNvPr id="3" name="object 3"/>
          <p:cNvSpPr txBox="1">
            <a:spLocks noGrp="1"/>
          </p:cNvSpPr>
          <p:nvPr>
            <p:ph type="ftr" sz="quarter" idx="5"/>
          </p:nvPr>
        </p:nvSpPr>
        <p:spPr>
          <a:xfrm>
            <a:off x="2253132" y="6668612"/>
            <a:ext cx="4077970" cy="160300"/>
          </a:xfrm>
          <a:prstGeom prst="rect">
            <a:avLst/>
          </a:prstGeom>
        </p:spPr>
        <p:txBody>
          <a:bodyPr vert="horz" wrap="square" lIns="0" tIns="21590" rIns="0" bIns="0" rtlCol="0">
            <a:spAutoFit/>
          </a:bodyPr>
          <a:lstStyle/>
          <a:p>
            <a:pPr marL="12700">
              <a:lnSpc>
                <a:spcPct val="100000"/>
              </a:lnSpc>
              <a:spcBef>
                <a:spcPts val="170"/>
              </a:spcBef>
            </a:pPr>
            <a:r>
              <a:rPr spc="-10" dirty="0"/>
              <a:t>Minor Project (18B19CI691) Mid-Term Evaluation </a:t>
            </a:r>
            <a:r>
              <a:rPr dirty="0"/>
              <a:t>| </a:t>
            </a:r>
            <a:r>
              <a:rPr spc="-10" dirty="0"/>
              <a:t>Department </a:t>
            </a:r>
            <a:r>
              <a:rPr spc="-5" dirty="0"/>
              <a:t>of </a:t>
            </a:r>
            <a:r>
              <a:rPr spc="-10" dirty="0"/>
              <a:t>CSE </a:t>
            </a:r>
            <a:r>
              <a:rPr dirty="0"/>
              <a:t>&amp; </a:t>
            </a:r>
            <a:r>
              <a:rPr spc="-5" dirty="0"/>
              <a:t>IT </a:t>
            </a:r>
            <a:r>
              <a:rPr dirty="0"/>
              <a:t>|</a:t>
            </a:r>
            <a:r>
              <a:rPr spc="-10" dirty="0"/>
              <a:t> </a:t>
            </a:r>
            <a:r>
              <a:rPr lang="en-IN" spc="-10" dirty="0"/>
              <a:t>2026</a:t>
            </a:r>
            <a:endParaRPr spc="-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13944</TotalTime>
  <Words>2373</Words>
  <Application>Microsoft Office PowerPoint</Application>
  <PresentationFormat>On-screen Show (4:3)</PresentationFormat>
  <Paragraphs>343</Paragraphs>
  <Slides>24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Ebrima</vt:lpstr>
      <vt:lpstr>Tahoma</vt:lpstr>
      <vt:lpstr>Wingdings</vt:lpstr>
      <vt:lpstr>Office Theme</vt:lpstr>
      <vt:lpstr>Jaypee University of Information  Technology, Waknaghat - 173234 (India)</vt:lpstr>
      <vt:lpstr>Outline</vt:lpstr>
      <vt:lpstr>Introduction</vt:lpstr>
      <vt:lpstr>Problem Statement</vt:lpstr>
      <vt:lpstr>Project Objectives</vt:lpstr>
      <vt:lpstr>Literature Review(1)</vt:lpstr>
      <vt:lpstr>PowerPoint Presentation</vt:lpstr>
      <vt:lpstr>PowerPoint Presentation</vt:lpstr>
      <vt:lpstr>PowerPoint Presentation</vt:lpstr>
      <vt:lpstr>Project Design (System Architecture)</vt:lpstr>
      <vt:lpstr>Project Design (System Workflow)</vt:lpstr>
      <vt:lpstr>Implementation (Dataset)</vt:lpstr>
      <vt:lpstr>Implementation (Data Flow)</vt:lpstr>
      <vt:lpstr>Implementation (Machine Learning)</vt:lpstr>
      <vt:lpstr>Implementation (Machine Learning)</vt:lpstr>
      <vt:lpstr>Implementation (Machine Learning)</vt:lpstr>
      <vt:lpstr>Experimental Results and Evaluation</vt:lpstr>
      <vt:lpstr>Prototype - UI</vt:lpstr>
      <vt:lpstr>Experimental Analysis</vt:lpstr>
      <vt:lpstr>Future Work (till End-Term Evaluation)</vt:lpstr>
      <vt:lpstr>Work Contribution</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Processes</dc:title>
  <dc:creator>Marilyn Turnamian</dc:creator>
  <cp:lastModifiedBy>Abhiuday Pratap Singh</cp:lastModifiedBy>
  <cp:revision>20</cp:revision>
  <dcterms:created xsi:type="dcterms:W3CDTF">2025-03-18T09:37:17Z</dcterms:created>
  <dcterms:modified xsi:type="dcterms:W3CDTF">2026-03-18T18:58:23Z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2025-03-18T00:00:00Z</vt:filetime>
  </property>
  <property fmtid="{D5CDD505-2E9C-101B-9397-08002B2CF9AE}" pid="3" name="Creator">
    <vt:lpwstr>Acrobat PDFMaker 17 for PowerPoint</vt:lpwstr>
  </property>
  <property fmtid="{D5CDD505-2E9C-101B-9397-08002B2CF9AE}" pid="4" name="LastSaved">
    <vt:filetime>2025-03-18T00:00:00Z</vt:filetime>
  </property>
</Properties>
</file>